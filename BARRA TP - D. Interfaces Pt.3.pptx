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049310-0A7A-4347-A72E-DDCBC201C1A4}">
  <a:tblStyle styleId="{32049310-0A7A-4347-A72E-DDCBC201C1A4}"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2c2412e5f_2_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a2c2412e5f_2_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lnSpc>
                <a:spcPct val="107000"/>
              </a:lnSpc>
              <a:spcBef>
                <a:spcPts val="0"/>
              </a:spcBef>
              <a:spcAft>
                <a:spcPts val="0"/>
              </a:spcAft>
              <a:buNone/>
            </a:pPr>
            <a:r>
              <a:t/>
            </a:r>
            <a:endParaRPr/>
          </a:p>
        </p:txBody>
      </p:sp>
      <p:sp>
        <p:nvSpPr>
          <p:cNvPr id="128" name="Google Shape;128;g3a2c2412e5f_2_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b5f9554d08_2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b5f9554d08_2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b5f9554d08_2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5f9554d08_2_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b5f9554d08_2_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b5f9554d08_2_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5fe30ca2c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b5fe30ca2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b5fe30ca2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5fe30ca2c_0_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b5fe30ca2c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b5fe30ca2c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5fe30ca2c_0_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b5fe30ca2c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b5fe30ca2c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5fe30ca2c_0_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b5fe30ca2c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b5fe30ca2c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5fe30ca2c_0_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b5fe30ca2c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b5fe30ca2c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5fe30ca2c_0_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3b5fe30ca2c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b5fe30ca2c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5fe30ca2c_0_8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b5fe30ca2c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b5fe30ca2c_0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b5fe30ca2c_0_10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b5fe30ca2c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b5fe30ca2c_0_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5fe30ca2c_0_1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b5fe30ca2c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3b5fe30ca2c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5f9554d08_2_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b5f9554d08_2_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3b5f9554d08_2_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5fe30ca2c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b5fe30ca2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g3b5fe30ca2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5fe30ca2c_1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b5fe30ca2c_1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b5fe30ca2c_1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b5fe30ca2c_1_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b5fe30ca2c_1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g3b5fe30ca2c_1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5fe30ca2c_1_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b5fe30ca2c_1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3b5fe30ca2c_1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5fe30ca2c_1_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3b5fe30ca2c_1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b5fe30ca2c_1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5fe30ca2c_0_1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3b5fe30ca2c_0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g3b5fe30ca2c_0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b5fe30ca2c_0_1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b5fe30ca2c_0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b5fe30ca2c_0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5fe30ca2c_0_1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b5fe30ca2c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g3b5fe30ca2c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b5f9554d08_0_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b5f9554d08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3b5f9554d08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5fe30ca2c_0_1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b5fe30ca2c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g3b5fe30ca2c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b5fe30ca2c_0_17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3b5fe30ca2c_0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g3b5fe30ca2c_0_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5fe30ca2c_0_18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3b5fe30ca2c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g3b5fe30ca2c_0_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b5f9554d08_0_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b5f9554d08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g3b5f9554d08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5f9554d08_0_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b5f9554d08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b5f9554d08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b5fe30ca2c_0_2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3b5fe30ca2c_0_2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g3b5fe30ca2c_0_2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b5fe30ca2c_0_2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b5fe30ca2c_0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g3b5fe30ca2c_0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b5fe30ca2c_0_27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g3b5fe30ca2c_0_2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3b5fe30ca2c_0_2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b5fe30ca2c_0_28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b5fe30ca2c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3b5fe30ca2c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b5fe30ca2c_0_28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b5fe30ca2c_0_2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g3b5fe30ca2c_0_2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b5fe30ca2c_0_19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b5fe30ca2c_0_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g3b5fe30ca2c_0_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b5f9554d08_2_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3b5f9554d08_2_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3b5f9554d08_2_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5f9554d08_2_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g3b5f9554d08_2_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g3b5f9554d08_2_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b5f9554d08_2_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g3b5f9554d08_2_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g3b5f9554d08_2_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b5f9554d08_2_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g3b5f9554d08_2_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504" name="Google Shape;504;g3b5f9554d08_2_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b5f9554d08_2_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g3b5f9554d08_2_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514" name="Google Shape;514;g3b5f9554d08_2_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b5f9554d08_2_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g3b5f9554d08_2_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g3b5f9554d08_2_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5f9554d08_2_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g3b5f9554d08_2_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g3b5f9554d08_2_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5fe30ca2c_1_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g3b5fe30ca2c_1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g3b5fe30ca2c_1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5f9554d08_0_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b5f9554d08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g3b5f9554d08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b5fe30ca2c_1_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g3b5fe30ca2c_1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g3b5fe30ca2c_1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b5f9554d08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g3b5f9554d08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g3b5f9554d08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b5f9554d08_0_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g3b5f9554d08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g3b5f9554d08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b5f9554d08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b5f9554d08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g3b5f9554d08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b5f9554d08_2_9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g3b5f9554d08_2_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g3b5f9554d08_2_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b5f9554d08_2_1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g3b5f9554d08_2_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g3b5f9554d08_2_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b5f9554d08_2_10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g3b5f9554d08_2_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g3b5f9554d08_2_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b5f9554d08_2_1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g3b5f9554d08_2_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g3b5f9554d08_2_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b5f9554d08_2_1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g3b5f9554d08_2_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g3b5f9554d08_2_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Objeto" type="obj">
  <p:cSld name="OBJECT">
    <p:spTree>
      <p:nvGrpSpPr>
        <p:cNvPr id="56" name="Shape 56"/>
        <p:cNvGrpSpPr/>
        <p:nvPr/>
      </p:nvGrpSpPr>
      <p:grpSpPr>
        <a:xfrm>
          <a:off x="0" y="0"/>
          <a:ext cx="0" cy="0"/>
          <a:chOff x="0" y="0"/>
          <a:chExt cx="0" cy="0"/>
        </a:xfrm>
      </p:grpSpPr>
      <p:sp>
        <p:nvSpPr>
          <p:cNvPr id="57" name="Google Shape;57;p1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o de Título" type="title">
  <p:cSld name="TITLE">
    <p:spTree>
      <p:nvGrpSpPr>
        <p:cNvPr id="62" name="Shape 62"/>
        <p:cNvGrpSpPr/>
        <p:nvPr/>
      </p:nvGrpSpPr>
      <p:grpSpPr>
        <a:xfrm>
          <a:off x="0" y="0"/>
          <a:ext cx="0" cy="0"/>
          <a:chOff x="0" y="0"/>
          <a:chExt cx="0" cy="0"/>
        </a:xfrm>
      </p:grpSpPr>
      <p:sp>
        <p:nvSpPr>
          <p:cNvPr id="63" name="Google Shape;63;p15"/>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5" name="Google Shape;65;p1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cção"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1" name="Google Shape;71;p1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Duplo"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4" name="Google Shape;84;p1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6" name="Google Shape;86;p1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 Título"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02" name="Google Shape;102;p2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3" name="Google Shape;103;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3887391" y="987426"/>
            <a:ext cx="4629150" cy="4873625"/>
          </a:xfrm>
          <a:prstGeom prst="rect">
            <a:avLst/>
          </a:prstGeom>
          <a:noFill/>
          <a:ln>
            <a:noFill/>
          </a:ln>
        </p:spPr>
      </p:sp>
      <p:sp>
        <p:nvSpPr>
          <p:cNvPr id="109" name="Google Shape;109;p2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0" name="Google Shape;110;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e Texto"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3.png"/><Relationship Id="rId4" Type="http://schemas.openxmlformats.org/officeDocument/2006/relationships/image" Target="../media/image9.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17.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38.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hyperlink" Target="http://build.io"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hyperlink" Target="http://builder.i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hyperlink" Target="http://builder.i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cxnSp>
        <p:nvCxnSpPr>
          <p:cNvPr id="130" name="Google Shape;130;p25"/>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131" name="Google Shape;131;p25"/>
          <p:cNvSpPr txBox="1"/>
          <p:nvPr/>
        </p:nvSpPr>
        <p:spPr>
          <a:xfrm>
            <a:off x="628650" y="1258807"/>
            <a:ext cx="7886700" cy="4822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t/>
            </a:r>
            <a:endParaRPr b="1" sz="3200">
              <a:solidFill>
                <a:schemeClr val="dk1"/>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rPr b="1" lang="pt-BR" sz="3200">
                <a:solidFill>
                  <a:schemeClr val="dk1"/>
                </a:solidFill>
                <a:latin typeface="Calibri"/>
                <a:ea typeface="Calibri"/>
                <a:cs typeface="Calibri"/>
                <a:sym typeface="Calibri"/>
              </a:rPr>
              <a:t>Desenvolvimento de Interfaces</a:t>
            </a:r>
            <a:endParaRPr>
              <a:solidFill>
                <a:schemeClr val="dk1"/>
              </a:solidFill>
            </a:endParaRPr>
          </a:p>
          <a:p>
            <a:pPr indent="0" lvl="0" marL="0" rtl="0" algn="ctr">
              <a:spcBef>
                <a:spcPts val="800"/>
              </a:spcBef>
              <a:spcAft>
                <a:spcPts val="0"/>
              </a:spcAft>
              <a:buClr>
                <a:schemeClr val="dk1"/>
              </a:buClr>
              <a:buFont typeface="Arial"/>
              <a:buNone/>
            </a:pPr>
            <a:r>
              <a:rPr b="1" lang="pt-BR" sz="3200">
                <a:solidFill>
                  <a:srgbClr val="0070C0"/>
                </a:solidFill>
                <a:latin typeface="Calibri"/>
                <a:ea typeface="Calibri"/>
                <a:cs typeface="Calibri"/>
                <a:sym typeface="Calibri"/>
              </a:rPr>
              <a:t>BARRA TP</a:t>
            </a:r>
            <a:endParaRPr>
              <a:solidFill>
                <a:schemeClr val="dk1"/>
              </a:solidFill>
            </a:endParaRPr>
          </a:p>
          <a:p>
            <a:pPr indent="0" lvl="0" marL="0" rtl="0" algn="ctr">
              <a:spcBef>
                <a:spcPts val="800"/>
              </a:spcBef>
              <a:spcAft>
                <a:spcPts val="0"/>
              </a:spcAft>
              <a:buClr>
                <a:schemeClr val="dk1"/>
              </a:buClr>
              <a:buFont typeface="Arial"/>
              <a:buNone/>
            </a:pPr>
            <a:r>
              <a:rPr lang="pt-BR" sz="2800">
                <a:solidFill>
                  <a:schemeClr val="dk1"/>
                </a:solidFill>
                <a:latin typeface="Calibri"/>
                <a:ea typeface="Calibri"/>
                <a:cs typeface="Calibri"/>
                <a:sym typeface="Calibri"/>
              </a:rPr>
              <a:t>Practical Assignment</a:t>
            </a:r>
            <a:endParaRPr>
              <a:solidFill>
                <a:schemeClr val="dk1"/>
              </a:solidFill>
            </a:endParaRPr>
          </a:p>
          <a:p>
            <a:pPr indent="0" lvl="0" marL="0" rtl="0" algn="ctr">
              <a:spcBef>
                <a:spcPts val="800"/>
              </a:spcBef>
              <a:spcAft>
                <a:spcPts val="0"/>
              </a:spcAft>
              <a:buClr>
                <a:schemeClr val="dk1"/>
              </a:buClr>
              <a:buFont typeface="Arial"/>
              <a:buNone/>
            </a:pPr>
            <a:r>
              <a:rPr lang="pt-BR" sz="2000">
                <a:solidFill>
                  <a:schemeClr val="dk1"/>
                </a:solidFill>
                <a:latin typeface="Calibri"/>
                <a:ea typeface="Calibri"/>
                <a:cs typeface="Calibri"/>
                <a:sym typeface="Calibri"/>
              </a:rPr>
              <a:t>(</a:t>
            </a:r>
            <a:r>
              <a:rPr b="1" lang="pt-BR" sz="2000">
                <a:solidFill>
                  <a:schemeClr val="dk1"/>
                </a:solidFill>
                <a:latin typeface="Calibri"/>
                <a:ea typeface="Calibri"/>
                <a:cs typeface="Calibri"/>
                <a:sym typeface="Calibri"/>
              </a:rPr>
              <a:t>Part 3</a:t>
            </a:r>
            <a:r>
              <a:rPr lang="pt-BR" sz="2000">
                <a:solidFill>
                  <a:schemeClr val="dk1"/>
                </a:solidFill>
                <a:latin typeface="Calibri"/>
                <a:ea typeface="Calibri"/>
                <a:cs typeface="Calibri"/>
                <a:sym typeface="Calibri"/>
              </a:rPr>
              <a:t>)</a:t>
            </a:r>
            <a:endParaRPr>
              <a:solidFill>
                <a:schemeClr val="dk1"/>
              </a:solidFill>
            </a:endParaRPr>
          </a:p>
          <a:p>
            <a:pPr indent="0" lvl="0" marL="0" rtl="0" algn="ctr">
              <a:spcBef>
                <a:spcPts val="800"/>
              </a:spcBef>
              <a:spcAft>
                <a:spcPts val="0"/>
              </a:spcAft>
              <a:buClr>
                <a:schemeClr val="dk1"/>
              </a:buClr>
              <a:buFont typeface="Arial"/>
              <a:buNone/>
            </a:pPr>
            <a:r>
              <a:rPr i="1" lang="pt-BR" sz="2000">
                <a:solidFill>
                  <a:schemeClr val="dk1"/>
                </a:solidFill>
                <a:latin typeface="Calibri"/>
                <a:ea typeface="Calibri"/>
                <a:cs typeface="Calibri"/>
                <a:sym typeface="Calibri"/>
              </a:rPr>
              <a:t>Designing and Implementing a User Interface Using a Human-Centered Approach</a:t>
            </a:r>
            <a:endParaRPr i="1" sz="2000">
              <a:solidFill>
                <a:schemeClr val="dk1"/>
              </a:solidFill>
              <a:latin typeface="Calibri"/>
              <a:ea typeface="Calibri"/>
              <a:cs typeface="Calibri"/>
              <a:sym typeface="Calibri"/>
            </a:endParaRPr>
          </a:p>
          <a:p>
            <a:pPr indent="0" lvl="0" marL="0" rtl="0" algn="ctr">
              <a:spcBef>
                <a:spcPts val="800"/>
              </a:spcBef>
              <a:spcAft>
                <a:spcPts val="0"/>
              </a:spcAft>
              <a:buClr>
                <a:schemeClr val="dk1"/>
              </a:buClr>
              <a:buFont typeface="Arial"/>
              <a:buNone/>
            </a:pPr>
            <a:r>
              <a:t/>
            </a:r>
            <a:endParaRPr sz="1800">
              <a:solidFill>
                <a:schemeClr val="dk1"/>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t/>
            </a:r>
            <a:endParaRPr sz="1800">
              <a:solidFill>
                <a:schemeClr val="dk1"/>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rPr lang="pt-BR" sz="1800">
                <a:solidFill>
                  <a:schemeClr val="dk1"/>
                </a:solidFill>
                <a:latin typeface="Calibri"/>
                <a:ea typeface="Calibri"/>
                <a:cs typeface="Calibri"/>
                <a:sym typeface="Calibri"/>
              </a:rPr>
              <a:t>Felipe Castilho (a047152@umaia.pt)</a:t>
            </a:r>
            <a:endParaRPr>
              <a:solidFill>
                <a:schemeClr val="dk1"/>
              </a:solidFill>
            </a:endParaRPr>
          </a:p>
          <a:p>
            <a:pPr indent="0" lvl="0" marL="0" rtl="0" algn="ctr">
              <a:spcBef>
                <a:spcPts val="0"/>
              </a:spcBef>
              <a:spcAft>
                <a:spcPts val="0"/>
              </a:spcAft>
              <a:buClr>
                <a:schemeClr val="dk1"/>
              </a:buClr>
              <a:buFont typeface="Arial"/>
              <a:buNone/>
            </a:pPr>
            <a:r>
              <a:rPr lang="pt-BR" sz="1800">
                <a:solidFill>
                  <a:schemeClr val="dk1"/>
                </a:solidFill>
                <a:latin typeface="Calibri"/>
                <a:ea typeface="Calibri"/>
                <a:cs typeface="Calibri"/>
                <a:sym typeface="Calibri"/>
              </a:rPr>
              <a:t>Juliana Moreira (a047188@umaia.pt)</a:t>
            </a:r>
            <a:endParaRPr>
              <a:solidFill>
                <a:schemeClr val="dk1"/>
              </a:solidFill>
            </a:endParaRPr>
          </a:p>
          <a:p>
            <a:pPr indent="0" lvl="0" marL="0" rtl="0" algn="ctr">
              <a:spcBef>
                <a:spcPts val="0"/>
              </a:spcBef>
              <a:spcAft>
                <a:spcPts val="0"/>
              </a:spcAft>
              <a:buNone/>
            </a:pPr>
            <a:r>
              <a:rPr lang="pt-BR" sz="1800">
                <a:solidFill>
                  <a:schemeClr val="dk1"/>
                </a:solidFill>
                <a:latin typeface="Calibri"/>
                <a:ea typeface="Calibri"/>
                <a:cs typeface="Calibri"/>
                <a:sym typeface="Calibri"/>
              </a:rPr>
              <a:t>Marta Vieira (a046756@umaia.pt)</a:t>
            </a:r>
            <a:endParaRPr b="1" sz="3200">
              <a:solidFill>
                <a:schemeClr val="dk1"/>
              </a:solidFill>
              <a:latin typeface="Calibri"/>
              <a:ea typeface="Calibri"/>
              <a:cs typeface="Calibri"/>
              <a:sym typeface="Calibri"/>
            </a:endParaRPr>
          </a:p>
        </p:txBody>
      </p:sp>
      <p:sp>
        <p:nvSpPr>
          <p:cNvPr id="132" name="Google Shape;132;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133" name="Google Shape;133;p25"/>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pt-BR" sz="1400" u="none" cap="none" strike="noStrike">
                <a:solidFill>
                  <a:schemeClr val="dk1"/>
                </a:solidFill>
                <a:latin typeface="Calibri"/>
                <a:ea typeface="Calibri"/>
                <a:cs typeface="Calibri"/>
                <a:sym typeface="Calibri"/>
              </a:rPr>
              <a:t>DCCTI</a:t>
            </a:r>
            <a:endParaRPr/>
          </a:p>
        </p:txBody>
      </p:sp>
      <p:sp>
        <p:nvSpPr>
          <p:cNvPr id="134" name="Google Shape;134;p25"/>
          <p:cNvSpPr/>
          <p:nvPr/>
        </p:nvSpPr>
        <p:spPr>
          <a:xfrm rot="-1559642">
            <a:off x="177916" y="4014037"/>
            <a:ext cx="2458655" cy="7345067"/>
          </a:xfrm>
          <a:prstGeom prst="arc">
            <a:avLst>
              <a:gd fmla="val 16200000" name="adj1"/>
              <a:gd fmla="val 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cxnSp>
        <p:nvCxnSpPr>
          <p:cNvPr id="140" name="Google Shape;140;p26"/>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141" name="Google Shape;141;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142" name="Google Shape;142;p26"/>
          <p:cNvSpPr txBox="1"/>
          <p:nvPr/>
        </p:nvSpPr>
        <p:spPr>
          <a:xfrm>
            <a:off x="628650" y="3223757"/>
            <a:ext cx="78867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200">
                <a:solidFill>
                  <a:schemeClr val="dk1"/>
                </a:solidFill>
                <a:latin typeface="Calibri"/>
                <a:ea typeface="Calibri"/>
                <a:cs typeface="Calibri"/>
                <a:sym typeface="Calibri"/>
              </a:rPr>
              <a:t>Frontends</a:t>
            </a:r>
            <a:endParaRPr sz="3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628650" y="365127"/>
            <a:ext cx="7886700" cy="5973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149" name="Google Shape;149;p27"/>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150" name="Google Shape;150;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151" name="Google Shape;151;p27"/>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152" name="Google Shape;152;p27"/>
          <p:cNvPicPr preferRelativeResize="0"/>
          <p:nvPr/>
        </p:nvPicPr>
        <p:blipFill>
          <a:blip r:embed="rId3">
            <a:alphaModFix/>
          </a:blip>
          <a:stretch>
            <a:fillRect/>
          </a:stretch>
        </p:blipFill>
        <p:spPr>
          <a:xfrm>
            <a:off x="312225" y="1204037"/>
            <a:ext cx="2767100" cy="5117750"/>
          </a:xfrm>
          <a:prstGeom prst="rect">
            <a:avLst/>
          </a:prstGeom>
          <a:noFill/>
          <a:ln>
            <a:noFill/>
          </a:ln>
        </p:spPr>
      </p:pic>
      <p:pic>
        <p:nvPicPr>
          <p:cNvPr id="153" name="Google Shape;153;p27"/>
          <p:cNvPicPr preferRelativeResize="0"/>
          <p:nvPr/>
        </p:nvPicPr>
        <p:blipFill>
          <a:blip r:embed="rId4">
            <a:alphaModFix/>
          </a:blip>
          <a:stretch>
            <a:fillRect/>
          </a:stretch>
        </p:blipFill>
        <p:spPr>
          <a:xfrm>
            <a:off x="3278575" y="1199400"/>
            <a:ext cx="2767100" cy="5127004"/>
          </a:xfrm>
          <a:prstGeom prst="rect">
            <a:avLst/>
          </a:prstGeom>
          <a:noFill/>
          <a:ln>
            <a:noFill/>
          </a:ln>
        </p:spPr>
      </p:pic>
      <p:pic>
        <p:nvPicPr>
          <p:cNvPr id="154" name="Google Shape;154;p27"/>
          <p:cNvPicPr preferRelativeResize="0"/>
          <p:nvPr/>
        </p:nvPicPr>
        <p:blipFill>
          <a:blip r:embed="rId5">
            <a:alphaModFix/>
          </a:blip>
          <a:stretch>
            <a:fillRect/>
          </a:stretch>
        </p:blipFill>
        <p:spPr>
          <a:xfrm>
            <a:off x="6244925" y="1192100"/>
            <a:ext cx="2767100" cy="5141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161" name="Google Shape;161;p28"/>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162" name="Google Shape;162;p2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163" name="Google Shape;163;p28"/>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164" name="Google Shape;164;p28"/>
          <p:cNvPicPr preferRelativeResize="0"/>
          <p:nvPr/>
        </p:nvPicPr>
        <p:blipFill>
          <a:blip r:embed="rId3">
            <a:alphaModFix/>
          </a:blip>
          <a:stretch>
            <a:fillRect/>
          </a:stretch>
        </p:blipFill>
        <p:spPr>
          <a:xfrm>
            <a:off x="628650" y="1036527"/>
            <a:ext cx="3029182" cy="5590772"/>
          </a:xfrm>
          <a:prstGeom prst="rect">
            <a:avLst/>
          </a:prstGeom>
          <a:noFill/>
          <a:ln>
            <a:noFill/>
          </a:ln>
        </p:spPr>
      </p:pic>
      <p:pic>
        <p:nvPicPr>
          <p:cNvPr id="165" name="Google Shape;165;p28"/>
          <p:cNvPicPr preferRelativeResize="0"/>
          <p:nvPr/>
        </p:nvPicPr>
        <p:blipFill>
          <a:blip r:embed="rId4">
            <a:alphaModFix/>
          </a:blip>
          <a:stretch>
            <a:fillRect/>
          </a:stretch>
        </p:blipFill>
        <p:spPr>
          <a:xfrm>
            <a:off x="3702099" y="1036525"/>
            <a:ext cx="3029175" cy="5593865"/>
          </a:xfrm>
          <a:prstGeom prst="rect">
            <a:avLst/>
          </a:prstGeom>
          <a:noFill/>
          <a:ln>
            <a:noFill/>
          </a:ln>
        </p:spPr>
      </p:pic>
      <p:sp>
        <p:nvSpPr>
          <p:cNvPr id="166" name="Google Shape;166;p28"/>
          <p:cNvSpPr txBox="1"/>
          <p:nvPr/>
        </p:nvSpPr>
        <p:spPr>
          <a:xfrm>
            <a:off x="6775550" y="2567100"/>
            <a:ext cx="21807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a:solidFill>
                  <a:schemeClr val="dk1"/>
                </a:solidFill>
                <a:latin typeface="Calibri"/>
                <a:ea typeface="Calibri"/>
                <a:cs typeface="Calibri"/>
                <a:sym typeface="Calibri"/>
              </a:rPr>
              <a:t>Aqui coloquei somente esta, pois não achei necessário colocar as outras de quando se clica, já que as páginas são quase iguais (são 4 contando com esta)</a:t>
            </a:r>
            <a:endParaRPr sz="1100">
              <a:solidFill>
                <a:schemeClr val="dk1"/>
              </a:solidFill>
              <a:latin typeface="Calibri"/>
              <a:ea typeface="Calibri"/>
              <a:cs typeface="Calibri"/>
              <a:sym typeface="Calibri"/>
            </a:endParaRPr>
          </a:p>
        </p:txBody>
      </p:sp>
      <p:cxnSp>
        <p:nvCxnSpPr>
          <p:cNvPr id="167" name="Google Shape;167;p28"/>
          <p:cNvCxnSpPr/>
          <p:nvPr/>
        </p:nvCxnSpPr>
        <p:spPr>
          <a:xfrm flipH="1">
            <a:off x="6419574" y="3585657"/>
            <a:ext cx="626400" cy="109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174" name="Google Shape;174;p29"/>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175" name="Google Shape;175;p2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176" name="Google Shape;176;p29"/>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177" name="Google Shape;177;p29"/>
          <p:cNvPicPr preferRelativeResize="0"/>
          <p:nvPr/>
        </p:nvPicPr>
        <p:blipFill>
          <a:blip r:embed="rId3">
            <a:alphaModFix/>
          </a:blip>
          <a:stretch>
            <a:fillRect/>
          </a:stretch>
        </p:blipFill>
        <p:spPr>
          <a:xfrm>
            <a:off x="127625" y="1052963"/>
            <a:ext cx="2824556" cy="5241525"/>
          </a:xfrm>
          <a:prstGeom prst="rect">
            <a:avLst/>
          </a:prstGeom>
          <a:noFill/>
          <a:ln>
            <a:noFill/>
          </a:ln>
        </p:spPr>
      </p:pic>
      <p:pic>
        <p:nvPicPr>
          <p:cNvPr id="178" name="Google Shape;178;p29"/>
          <p:cNvPicPr preferRelativeResize="0"/>
          <p:nvPr/>
        </p:nvPicPr>
        <p:blipFill>
          <a:blip r:embed="rId4">
            <a:alphaModFix/>
          </a:blip>
          <a:stretch>
            <a:fillRect/>
          </a:stretch>
        </p:blipFill>
        <p:spPr>
          <a:xfrm>
            <a:off x="3081425" y="1052975"/>
            <a:ext cx="2824550" cy="5214574"/>
          </a:xfrm>
          <a:prstGeom prst="rect">
            <a:avLst/>
          </a:prstGeom>
          <a:noFill/>
          <a:ln>
            <a:noFill/>
          </a:ln>
        </p:spPr>
      </p:pic>
      <p:pic>
        <p:nvPicPr>
          <p:cNvPr id="179" name="Google Shape;179;p29"/>
          <p:cNvPicPr preferRelativeResize="0"/>
          <p:nvPr/>
        </p:nvPicPr>
        <p:blipFill>
          <a:blip r:embed="rId5">
            <a:alphaModFix/>
          </a:blip>
          <a:stretch>
            <a:fillRect/>
          </a:stretch>
        </p:blipFill>
        <p:spPr>
          <a:xfrm>
            <a:off x="6035225" y="1052100"/>
            <a:ext cx="2824550" cy="52145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186" name="Google Shape;186;p30"/>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187" name="Google Shape;187;p3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188" name="Google Shape;188;p30"/>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189" name="Google Shape;189;p30"/>
          <p:cNvPicPr preferRelativeResize="0"/>
          <p:nvPr/>
        </p:nvPicPr>
        <p:blipFill>
          <a:blip r:embed="rId3">
            <a:alphaModFix/>
          </a:blip>
          <a:stretch>
            <a:fillRect/>
          </a:stretch>
        </p:blipFill>
        <p:spPr>
          <a:xfrm>
            <a:off x="409450" y="1132788"/>
            <a:ext cx="2762575" cy="5073939"/>
          </a:xfrm>
          <a:prstGeom prst="rect">
            <a:avLst/>
          </a:prstGeom>
          <a:noFill/>
          <a:ln>
            <a:noFill/>
          </a:ln>
        </p:spPr>
      </p:pic>
      <p:pic>
        <p:nvPicPr>
          <p:cNvPr id="190" name="Google Shape;190;p30"/>
          <p:cNvPicPr preferRelativeResize="0"/>
          <p:nvPr/>
        </p:nvPicPr>
        <p:blipFill>
          <a:blip r:embed="rId4">
            <a:alphaModFix/>
          </a:blip>
          <a:stretch>
            <a:fillRect/>
          </a:stretch>
        </p:blipFill>
        <p:spPr>
          <a:xfrm>
            <a:off x="3324425" y="1132800"/>
            <a:ext cx="2718810" cy="5073925"/>
          </a:xfrm>
          <a:prstGeom prst="rect">
            <a:avLst/>
          </a:prstGeom>
          <a:noFill/>
          <a:ln>
            <a:noFill/>
          </a:ln>
        </p:spPr>
      </p:pic>
      <p:pic>
        <p:nvPicPr>
          <p:cNvPr id="191" name="Google Shape;191;p30"/>
          <p:cNvPicPr preferRelativeResize="0"/>
          <p:nvPr/>
        </p:nvPicPr>
        <p:blipFill>
          <a:blip r:embed="rId5">
            <a:alphaModFix/>
          </a:blip>
          <a:stretch>
            <a:fillRect/>
          </a:stretch>
        </p:blipFill>
        <p:spPr>
          <a:xfrm>
            <a:off x="6195624" y="1132800"/>
            <a:ext cx="2762575" cy="508459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198" name="Google Shape;198;p31"/>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199" name="Google Shape;199;p3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00" name="Google Shape;200;p31"/>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01" name="Google Shape;201;p31"/>
          <p:cNvPicPr preferRelativeResize="0"/>
          <p:nvPr/>
        </p:nvPicPr>
        <p:blipFill>
          <a:blip r:embed="rId3">
            <a:alphaModFix/>
          </a:blip>
          <a:stretch>
            <a:fillRect/>
          </a:stretch>
        </p:blipFill>
        <p:spPr>
          <a:xfrm>
            <a:off x="503400" y="1086138"/>
            <a:ext cx="2775101" cy="5175177"/>
          </a:xfrm>
          <a:prstGeom prst="rect">
            <a:avLst/>
          </a:prstGeom>
          <a:noFill/>
          <a:ln>
            <a:noFill/>
          </a:ln>
        </p:spPr>
      </p:pic>
      <p:pic>
        <p:nvPicPr>
          <p:cNvPr id="202" name="Google Shape;202;p31"/>
          <p:cNvPicPr preferRelativeResize="0"/>
          <p:nvPr/>
        </p:nvPicPr>
        <p:blipFill>
          <a:blip r:embed="rId4">
            <a:alphaModFix/>
          </a:blip>
          <a:stretch>
            <a:fillRect/>
          </a:stretch>
        </p:blipFill>
        <p:spPr>
          <a:xfrm>
            <a:off x="3385350" y="1086150"/>
            <a:ext cx="2775100" cy="5132551"/>
          </a:xfrm>
          <a:prstGeom prst="rect">
            <a:avLst/>
          </a:prstGeom>
          <a:noFill/>
          <a:ln>
            <a:noFill/>
          </a:ln>
        </p:spPr>
      </p:pic>
      <p:pic>
        <p:nvPicPr>
          <p:cNvPr id="203" name="Google Shape;203;p31"/>
          <p:cNvPicPr preferRelativeResize="0"/>
          <p:nvPr/>
        </p:nvPicPr>
        <p:blipFill>
          <a:blip r:embed="rId5">
            <a:alphaModFix/>
          </a:blip>
          <a:stretch>
            <a:fillRect/>
          </a:stretch>
        </p:blipFill>
        <p:spPr>
          <a:xfrm>
            <a:off x="6267300" y="1103075"/>
            <a:ext cx="2775100" cy="51047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210" name="Google Shape;210;p32"/>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211" name="Google Shape;211;p3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12" name="Google Shape;212;p32"/>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13" name="Google Shape;213;p32"/>
          <p:cNvPicPr preferRelativeResize="0"/>
          <p:nvPr/>
        </p:nvPicPr>
        <p:blipFill>
          <a:blip r:embed="rId3">
            <a:alphaModFix/>
          </a:blip>
          <a:stretch>
            <a:fillRect/>
          </a:stretch>
        </p:blipFill>
        <p:spPr>
          <a:xfrm>
            <a:off x="96300" y="1127912"/>
            <a:ext cx="2832207" cy="5282974"/>
          </a:xfrm>
          <a:prstGeom prst="rect">
            <a:avLst/>
          </a:prstGeom>
          <a:noFill/>
          <a:ln>
            <a:noFill/>
          </a:ln>
        </p:spPr>
      </p:pic>
      <p:pic>
        <p:nvPicPr>
          <p:cNvPr id="214" name="Google Shape;214;p32"/>
          <p:cNvPicPr preferRelativeResize="0"/>
          <p:nvPr/>
        </p:nvPicPr>
        <p:blipFill>
          <a:blip r:embed="rId4">
            <a:alphaModFix/>
          </a:blip>
          <a:stretch>
            <a:fillRect/>
          </a:stretch>
        </p:blipFill>
        <p:spPr>
          <a:xfrm>
            <a:off x="3112725" y="1114812"/>
            <a:ext cx="2832201" cy="5309151"/>
          </a:xfrm>
          <a:prstGeom prst="rect">
            <a:avLst/>
          </a:prstGeom>
          <a:noFill/>
          <a:ln>
            <a:noFill/>
          </a:ln>
        </p:spPr>
      </p:pic>
      <p:pic>
        <p:nvPicPr>
          <p:cNvPr id="215" name="Google Shape;215;p32"/>
          <p:cNvPicPr preferRelativeResize="0"/>
          <p:nvPr/>
        </p:nvPicPr>
        <p:blipFill>
          <a:blip r:embed="rId5">
            <a:alphaModFix/>
          </a:blip>
          <a:stretch>
            <a:fillRect/>
          </a:stretch>
        </p:blipFill>
        <p:spPr>
          <a:xfrm>
            <a:off x="6129150" y="1067738"/>
            <a:ext cx="2936576" cy="54032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222" name="Google Shape;222;p33"/>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223" name="Google Shape;223;p3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24" name="Google Shape;224;p33"/>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25" name="Google Shape;225;p33"/>
          <p:cNvPicPr preferRelativeResize="0"/>
          <p:nvPr/>
        </p:nvPicPr>
        <p:blipFill>
          <a:blip r:embed="rId3">
            <a:alphaModFix/>
          </a:blip>
          <a:stretch>
            <a:fillRect/>
          </a:stretch>
        </p:blipFill>
        <p:spPr>
          <a:xfrm>
            <a:off x="93925" y="1114825"/>
            <a:ext cx="2921400" cy="5411474"/>
          </a:xfrm>
          <a:prstGeom prst="rect">
            <a:avLst/>
          </a:prstGeom>
          <a:noFill/>
          <a:ln>
            <a:noFill/>
          </a:ln>
        </p:spPr>
      </p:pic>
      <p:pic>
        <p:nvPicPr>
          <p:cNvPr id="226" name="Google Shape;226;p33"/>
          <p:cNvPicPr preferRelativeResize="0"/>
          <p:nvPr/>
        </p:nvPicPr>
        <p:blipFill>
          <a:blip r:embed="rId4">
            <a:alphaModFix/>
          </a:blip>
          <a:stretch>
            <a:fillRect/>
          </a:stretch>
        </p:blipFill>
        <p:spPr>
          <a:xfrm>
            <a:off x="3111300" y="1091625"/>
            <a:ext cx="2921400" cy="5457886"/>
          </a:xfrm>
          <a:prstGeom prst="rect">
            <a:avLst/>
          </a:prstGeom>
          <a:noFill/>
          <a:ln>
            <a:noFill/>
          </a:ln>
        </p:spPr>
      </p:pic>
      <p:pic>
        <p:nvPicPr>
          <p:cNvPr id="227" name="Google Shape;227;p33"/>
          <p:cNvPicPr preferRelativeResize="0"/>
          <p:nvPr/>
        </p:nvPicPr>
        <p:blipFill>
          <a:blip r:embed="rId5">
            <a:alphaModFix/>
          </a:blip>
          <a:stretch>
            <a:fillRect/>
          </a:stretch>
        </p:blipFill>
        <p:spPr>
          <a:xfrm>
            <a:off x="6128676" y="1069225"/>
            <a:ext cx="2921400" cy="55026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234" name="Google Shape;234;p34"/>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235" name="Google Shape;235;p3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36" name="Google Shape;236;p34"/>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37" name="Google Shape;237;p34"/>
          <p:cNvPicPr preferRelativeResize="0"/>
          <p:nvPr/>
        </p:nvPicPr>
        <p:blipFill>
          <a:blip r:embed="rId3">
            <a:alphaModFix/>
          </a:blip>
          <a:stretch>
            <a:fillRect/>
          </a:stretch>
        </p:blipFill>
        <p:spPr>
          <a:xfrm>
            <a:off x="128850" y="1132774"/>
            <a:ext cx="2855949" cy="5282068"/>
          </a:xfrm>
          <a:prstGeom prst="rect">
            <a:avLst/>
          </a:prstGeom>
          <a:noFill/>
          <a:ln>
            <a:noFill/>
          </a:ln>
        </p:spPr>
      </p:pic>
      <p:pic>
        <p:nvPicPr>
          <p:cNvPr id="238" name="Google Shape;238;p34"/>
          <p:cNvPicPr preferRelativeResize="0"/>
          <p:nvPr/>
        </p:nvPicPr>
        <p:blipFill>
          <a:blip r:embed="rId4">
            <a:alphaModFix/>
          </a:blip>
          <a:stretch>
            <a:fillRect/>
          </a:stretch>
        </p:blipFill>
        <p:spPr>
          <a:xfrm>
            <a:off x="3137200" y="1114825"/>
            <a:ext cx="2855951" cy="5293037"/>
          </a:xfrm>
          <a:prstGeom prst="rect">
            <a:avLst/>
          </a:prstGeom>
          <a:noFill/>
          <a:ln>
            <a:noFill/>
          </a:ln>
        </p:spPr>
      </p:pic>
      <p:pic>
        <p:nvPicPr>
          <p:cNvPr id="239" name="Google Shape;239;p34"/>
          <p:cNvPicPr preferRelativeResize="0"/>
          <p:nvPr/>
        </p:nvPicPr>
        <p:blipFill>
          <a:blip r:embed="rId5">
            <a:alphaModFix/>
          </a:blip>
          <a:stretch>
            <a:fillRect/>
          </a:stretch>
        </p:blipFill>
        <p:spPr>
          <a:xfrm>
            <a:off x="6082225" y="1114825"/>
            <a:ext cx="2855951" cy="530802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246" name="Google Shape;246;p35"/>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247" name="Google Shape;247;p3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48" name="Google Shape;248;p35"/>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49" name="Google Shape;249;p35"/>
          <p:cNvPicPr preferRelativeResize="0"/>
          <p:nvPr/>
        </p:nvPicPr>
        <p:blipFill>
          <a:blip r:embed="rId3">
            <a:alphaModFix/>
          </a:blip>
          <a:stretch>
            <a:fillRect/>
          </a:stretch>
        </p:blipFill>
        <p:spPr>
          <a:xfrm>
            <a:off x="6058675" y="1133000"/>
            <a:ext cx="2855950" cy="5334327"/>
          </a:xfrm>
          <a:prstGeom prst="rect">
            <a:avLst/>
          </a:prstGeom>
          <a:noFill/>
          <a:ln>
            <a:noFill/>
          </a:ln>
        </p:spPr>
      </p:pic>
      <p:pic>
        <p:nvPicPr>
          <p:cNvPr id="250" name="Google Shape;250;p35"/>
          <p:cNvPicPr preferRelativeResize="0"/>
          <p:nvPr/>
        </p:nvPicPr>
        <p:blipFill rotWithShape="1">
          <a:blip r:embed="rId4">
            <a:alphaModFix/>
          </a:blip>
          <a:srcRect b="-4515" l="0" r="-4515" t="0"/>
          <a:stretch/>
        </p:blipFill>
        <p:spPr>
          <a:xfrm>
            <a:off x="3079600" y="1133000"/>
            <a:ext cx="2984799" cy="5528868"/>
          </a:xfrm>
          <a:prstGeom prst="rect">
            <a:avLst/>
          </a:prstGeom>
          <a:noFill/>
          <a:ln>
            <a:noFill/>
          </a:ln>
        </p:spPr>
      </p:pic>
      <p:pic>
        <p:nvPicPr>
          <p:cNvPr id="251" name="Google Shape;251;p35"/>
          <p:cNvPicPr preferRelativeResize="0"/>
          <p:nvPr/>
        </p:nvPicPr>
        <p:blipFill>
          <a:blip r:embed="rId5">
            <a:alphaModFix/>
          </a:blip>
          <a:stretch>
            <a:fillRect/>
          </a:stretch>
        </p:blipFill>
        <p:spPr>
          <a:xfrm>
            <a:off x="93500" y="1145477"/>
            <a:ext cx="2855950" cy="53093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Mobile Frontend</a:t>
            </a:r>
            <a:endParaRPr/>
          </a:p>
        </p:txBody>
      </p:sp>
      <p:cxnSp>
        <p:nvCxnSpPr>
          <p:cNvPr id="258" name="Google Shape;258;p36"/>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259" name="Google Shape;259;p3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60" name="Google Shape;260;p36"/>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61" name="Google Shape;261;p36"/>
          <p:cNvPicPr preferRelativeResize="0"/>
          <p:nvPr/>
        </p:nvPicPr>
        <p:blipFill>
          <a:blip r:embed="rId3">
            <a:alphaModFix/>
          </a:blip>
          <a:stretch>
            <a:fillRect/>
          </a:stretch>
        </p:blipFill>
        <p:spPr>
          <a:xfrm>
            <a:off x="3062362" y="1188475"/>
            <a:ext cx="2855949" cy="5223370"/>
          </a:xfrm>
          <a:prstGeom prst="rect">
            <a:avLst/>
          </a:prstGeom>
          <a:noFill/>
          <a:ln>
            <a:noFill/>
          </a:ln>
        </p:spPr>
      </p:pic>
      <p:pic>
        <p:nvPicPr>
          <p:cNvPr id="262" name="Google Shape;262;p36"/>
          <p:cNvPicPr preferRelativeResize="0"/>
          <p:nvPr/>
        </p:nvPicPr>
        <p:blipFill>
          <a:blip r:embed="rId4">
            <a:alphaModFix/>
          </a:blip>
          <a:stretch>
            <a:fillRect/>
          </a:stretch>
        </p:blipFill>
        <p:spPr>
          <a:xfrm>
            <a:off x="6196375" y="1188475"/>
            <a:ext cx="2785803" cy="5223374"/>
          </a:xfrm>
          <a:prstGeom prst="rect">
            <a:avLst/>
          </a:prstGeom>
          <a:noFill/>
          <a:ln>
            <a:noFill/>
          </a:ln>
        </p:spPr>
      </p:pic>
      <p:sp>
        <p:nvSpPr>
          <p:cNvPr id="263" name="Google Shape;263;p36"/>
          <p:cNvSpPr txBox="1"/>
          <p:nvPr/>
        </p:nvSpPr>
        <p:spPr>
          <a:xfrm>
            <a:off x="4822550" y="6411850"/>
            <a:ext cx="2865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chemeClr val="dk1"/>
                </a:solidFill>
                <a:latin typeface="Calibri"/>
                <a:ea typeface="Calibri"/>
                <a:cs typeface="Calibri"/>
                <a:sym typeface="Calibri"/>
              </a:rPr>
              <a:t>2 da direita não implementadas, mas tão lá</a:t>
            </a:r>
            <a:endParaRPr sz="1200">
              <a:solidFill>
                <a:schemeClr val="dk1"/>
              </a:solidFill>
              <a:latin typeface="Calibri"/>
              <a:ea typeface="Calibri"/>
              <a:cs typeface="Calibri"/>
              <a:sym typeface="Calibri"/>
            </a:endParaRPr>
          </a:p>
        </p:txBody>
      </p:sp>
      <p:pic>
        <p:nvPicPr>
          <p:cNvPr id="264" name="Google Shape;264;p36"/>
          <p:cNvPicPr preferRelativeResize="0"/>
          <p:nvPr/>
        </p:nvPicPr>
        <p:blipFill>
          <a:blip r:embed="rId5">
            <a:alphaModFix/>
          </a:blip>
          <a:stretch>
            <a:fillRect/>
          </a:stretch>
        </p:blipFill>
        <p:spPr>
          <a:xfrm>
            <a:off x="105450" y="1188465"/>
            <a:ext cx="2763610" cy="51177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type="title"/>
          </p:nvPr>
        </p:nvSpPr>
        <p:spPr>
          <a:xfrm>
            <a:off x="628650" y="365127"/>
            <a:ext cx="7886700" cy="5973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271" name="Google Shape;271;p37"/>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272" name="Google Shape;272;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73" name="Google Shape;273;p37"/>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74" name="Google Shape;274;p37"/>
          <p:cNvPicPr preferRelativeResize="0"/>
          <p:nvPr/>
        </p:nvPicPr>
        <p:blipFill>
          <a:blip r:embed="rId3">
            <a:alphaModFix/>
          </a:blip>
          <a:stretch>
            <a:fillRect/>
          </a:stretch>
        </p:blipFill>
        <p:spPr>
          <a:xfrm>
            <a:off x="141663" y="1702287"/>
            <a:ext cx="8860675" cy="39062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8"/>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281" name="Google Shape;281;p38"/>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282" name="Google Shape;282;p3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83" name="Google Shape;283;p38"/>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84" name="Google Shape;284;p38"/>
          <p:cNvPicPr preferRelativeResize="0"/>
          <p:nvPr/>
        </p:nvPicPr>
        <p:blipFill>
          <a:blip r:embed="rId3">
            <a:alphaModFix/>
          </a:blip>
          <a:stretch>
            <a:fillRect/>
          </a:stretch>
        </p:blipFill>
        <p:spPr>
          <a:xfrm>
            <a:off x="152400" y="1725327"/>
            <a:ext cx="8839202" cy="38968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291" name="Google Shape;291;p39"/>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292" name="Google Shape;292;p3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293" name="Google Shape;293;p39"/>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294" name="Google Shape;294;p39"/>
          <p:cNvPicPr preferRelativeResize="0"/>
          <p:nvPr/>
        </p:nvPicPr>
        <p:blipFill>
          <a:blip r:embed="rId3">
            <a:alphaModFix/>
          </a:blip>
          <a:stretch>
            <a:fillRect/>
          </a:stretch>
        </p:blipFill>
        <p:spPr>
          <a:xfrm>
            <a:off x="152400" y="1867402"/>
            <a:ext cx="8839202" cy="387837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0"/>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01" name="Google Shape;301;p40"/>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02" name="Google Shape;302;p4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03" name="Google Shape;303;p40"/>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04" name="Google Shape;304;p40"/>
          <p:cNvPicPr preferRelativeResize="0"/>
          <p:nvPr/>
        </p:nvPicPr>
        <p:blipFill>
          <a:blip r:embed="rId3">
            <a:alphaModFix/>
          </a:blip>
          <a:stretch>
            <a:fillRect/>
          </a:stretch>
        </p:blipFill>
        <p:spPr>
          <a:xfrm>
            <a:off x="152400" y="1114827"/>
            <a:ext cx="8839201" cy="48830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1"/>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11" name="Google Shape;311;p41"/>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12" name="Google Shape;312;p4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13" name="Google Shape;313;p41"/>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14" name="Google Shape;314;p41"/>
          <p:cNvPicPr preferRelativeResize="0"/>
          <p:nvPr/>
        </p:nvPicPr>
        <p:blipFill>
          <a:blip r:embed="rId3">
            <a:alphaModFix/>
          </a:blip>
          <a:stretch>
            <a:fillRect/>
          </a:stretch>
        </p:blipFill>
        <p:spPr>
          <a:xfrm>
            <a:off x="152400" y="1114827"/>
            <a:ext cx="8839201" cy="48876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2"/>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21" name="Google Shape;321;p42"/>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22" name="Google Shape;322;p4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23" name="Google Shape;323;p42"/>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24" name="Google Shape;324;p42"/>
          <p:cNvPicPr preferRelativeResize="0"/>
          <p:nvPr/>
        </p:nvPicPr>
        <p:blipFill>
          <a:blip r:embed="rId3">
            <a:alphaModFix/>
          </a:blip>
          <a:stretch>
            <a:fillRect/>
          </a:stretch>
        </p:blipFill>
        <p:spPr>
          <a:xfrm>
            <a:off x="152400" y="1114827"/>
            <a:ext cx="8839204" cy="504110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3"/>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31" name="Google Shape;331;p43"/>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32" name="Google Shape;332;p4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33" name="Google Shape;333;p43"/>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34" name="Google Shape;334;p43"/>
          <p:cNvPicPr preferRelativeResize="0"/>
          <p:nvPr/>
        </p:nvPicPr>
        <p:blipFill>
          <a:blip r:embed="rId3">
            <a:alphaModFix/>
          </a:blip>
          <a:stretch>
            <a:fillRect/>
          </a:stretch>
        </p:blipFill>
        <p:spPr>
          <a:xfrm>
            <a:off x="152400" y="1114827"/>
            <a:ext cx="8839204" cy="50454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4"/>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41" name="Google Shape;341;p44"/>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42" name="Google Shape;342;p4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43" name="Google Shape;343;p44"/>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44" name="Google Shape;344;p44"/>
          <p:cNvPicPr preferRelativeResize="0"/>
          <p:nvPr/>
        </p:nvPicPr>
        <p:blipFill>
          <a:blip r:embed="rId3">
            <a:alphaModFix/>
          </a:blip>
          <a:stretch>
            <a:fillRect/>
          </a:stretch>
        </p:blipFill>
        <p:spPr>
          <a:xfrm>
            <a:off x="185250" y="1234765"/>
            <a:ext cx="8839202" cy="48779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5"/>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51" name="Google Shape;351;p45"/>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52" name="Google Shape;352;p4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53" name="Google Shape;353;p45"/>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54" name="Google Shape;354;p45"/>
          <p:cNvPicPr preferRelativeResize="0"/>
          <p:nvPr/>
        </p:nvPicPr>
        <p:blipFill>
          <a:blip r:embed="rId3">
            <a:alphaModFix/>
          </a:blip>
          <a:stretch>
            <a:fillRect/>
          </a:stretch>
        </p:blipFill>
        <p:spPr>
          <a:xfrm>
            <a:off x="189750" y="1221077"/>
            <a:ext cx="8839202" cy="48687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6"/>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61" name="Google Shape;361;p46"/>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62" name="Google Shape;362;p4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63" name="Google Shape;363;p46"/>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64" name="Google Shape;364;p46"/>
          <p:cNvPicPr preferRelativeResize="0"/>
          <p:nvPr/>
        </p:nvPicPr>
        <p:blipFill>
          <a:blip r:embed="rId3">
            <a:alphaModFix/>
          </a:blip>
          <a:stretch>
            <a:fillRect/>
          </a:stretch>
        </p:blipFill>
        <p:spPr>
          <a:xfrm>
            <a:off x="182300" y="1174602"/>
            <a:ext cx="8839201" cy="487839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7"/>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71" name="Google Shape;371;p47"/>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72" name="Google Shape;372;p4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73" name="Google Shape;373;p47"/>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74" name="Google Shape;374;p47"/>
          <p:cNvPicPr preferRelativeResize="0"/>
          <p:nvPr/>
        </p:nvPicPr>
        <p:blipFill rotWithShape="1">
          <a:blip r:embed="rId3">
            <a:alphaModFix/>
          </a:blip>
          <a:srcRect b="0" l="0" r="0" t="0"/>
          <a:stretch/>
        </p:blipFill>
        <p:spPr>
          <a:xfrm>
            <a:off x="152400" y="1114827"/>
            <a:ext cx="8839201" cy="48702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8"/>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81" name="Google Shape;381;p48"/>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82" name="Google Shape;382;p4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83" name="Google Shape;383;p48"/>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84" name="Google Shape;384;p48"/>
          <p:cNvPicPr preferRelativeResize="0"/>
          <p:nvPr/>
        </p:nvPicPr>
        <p:blipFill>
          <a:blip r:embed="rId3">
            <a:alphaModFix/>
          </a:blip>
          <a:stretch>
            <a:fillRect/>
          </a:stretch>
        </p:blipFill>
        <p:spPr>
          <a:xfrm>
            <a:off x="237575" y="1174627"/>
            <a:ext cx="8839198" cy="486823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9"/>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391" name="Google Shape;391;p49"/>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392" name="Google Shape;392;p4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393" name="Google Shape;393;p49"/>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394" name="Google Shape;394;p49"/>
          <p:cNvPicPr preferRelativeResize="0"/>
          <p:nvPr/>
        </p:nvPicPr>
        <p:blipFill>
          <a:blip r:embed="rId3">
            <a:alphaModFix/>
          </a:blip>
          <a:stretch>
            <a:fillRect/>
          </a:stretch>
        </p:blipFill>
        <p:spPr>
          <a:xfrm>
            <a:off x="152400" y="1114827"/>
            <a:ext cx="8839202" cy="484226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0"/>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401" name="Google Shape;401;p50"/>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02" name="Google Shape;402;p5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03" name="Google Shape;403;p50"/>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404" name="Google Shape;404;p50"/>
          <p:cNvPicPr preferRelativeResize="0"/>
          <p:nvPr/>
        </p:nvPicPr>
        <p:blipFill>
          <a:blip r:embed="rId3">
            <a:alphaModFix/>
          </a:blip>
          <a:stretch>
            <a:fillRect/>
          </a:stretch>
        </p:blipFill>
        <p:spPr>
          <a:xfrm>
            <a:off x="152400" y="1291227"/>
            <a:ext cx="8839202" cy="4887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1"/>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411" name="Google Shape;411;p51"/>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12" name="Google Shape;412;p5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13" name="Google Shape;413;p51"/>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414" name="Google Shape;414;p51"/>
          <p:cNvPicPr preferRelativeResize="0"/>
          <p:nvPr/>
        </p:nvPicPr>
        <p:blipFill>
          <a:blip r:embed="rId3">
            <a:alphaModFix/>
          </a:blip>
          <a:stretch>
            <a:fillRect/>
          </a:stretch>
        </p:blipFill>
        <p:spPr>
          <a:xfrm>
            <a:off x="152400" y="1291227"/>
            <a:ext cx="8839199" cy="487123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2"/>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421" name="Google Shape;421;p52"/>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22" name="Google Shape;422;p5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23" name="Google Shape;423;p52"/>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424" name="Google Shape;424;p52"/>
          <p:cNvPicPr preferRelativeResize="0"/>
          <p:nvPr/>
        </p:nvPicPr>
        <p:blipFill>
          <a:blip r:embed="rId3">
            <a:alphaModFix/>
          </a:blip>
          <a:stretch>
            <a:fillRect/>
          </a:stretch>
        </p:blipFill>
        <p:spPr>
          <a:xfrm>
            <a:off x="152400" y="1215202"/>
            <a:ext cx="8839199" cy="488045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3"/>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431" name="Google Shape;431;p53"/>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32" name="Google Shape;432;p5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33" name="Google Shape;433;p53"/>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434" name="Google Shape;434;p53"/>
          <p:cNvPicPr preferRelativeResize="0"/>
          <p:nvPr/>
        </p:nvPicPr>
        <p:blipFill>
          <a:blip r:embed="rId3">
            <a:alphaModFix/>
          </a:blip>
          <a:stretch>
            <a:fillRect/>
          </a:stretch>
        </p:blipFill>
        <p:spPr>
          <a:xfrm>
            <a:off x="152400" y="1114827"/>
            <a:ext cx="8839204" cy="504110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4"/>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441" name="Google Shape;441;p54"/>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42" name="Google Shape;442;p5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43" name="Google Shape;443;p54"/>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444" name="Google Shape;444;p54"/>
          <p:cNvPicPr preferRelativeResize="0"/>
          <p:nvPr/>
        </p:nvPicPr>
        <p:blipFill>
          <a:blip r:embed="rId3">
            <a:alphaModFix/>
          </a:blip>
          <a:stretch>
            <a:fillRect/>
          </a:stretch>
        </p:blipFill>
        <p:spPr>
          <a:xfrm>
            <a:off x="152400" y="1114827"/>
            <a:ext cx="8839204" cy="476488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5"/>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451" name="Google Shape;451;p55"/>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52" name="Google Shape;452;p5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53" name="Google Shape;453;p55"/>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454" name="Google Shape;454;p55"/>
          <p:cNvPicPr preferRelativeResize="0"/>
          <p:nvPr/>
        </p:nvPicPr>
        <p:blipFill>
          <a:blip r:embed="rId3">
            <a:alphaModFix/>
          </a:blip>
          <a:stretch>
            <a:fillRect/>
          </a:stretch>
        </p:blipFill>
        <p:spPr>
          <a:xfrm>
            <a:off x="152400" y="1114827"/>
            <a:ext cx="8839204" cy="504974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6"/>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461" name="Google Shape;461;p56"/>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62" name="Google Shape;462;p5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63" name="Google Shape;463;p56"/>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464" name="Google Shape;464;p56"/>
          <p:cNvPicPr preferRelativeResize="0"/>
          <p:nvPr/>
        </p:nvPicPr>
        <p:blipFill>
          <a:blip r:embed="rId3">
            <a:alphaModFix/>
          </a:blip>
          <a:stretch>
            <a:fillRect/>
          </a:stretch>
        </p:blipFill>
        <p:spPr>
          <a:xfrm>
            <a:off x="152400" y="1114827"/>
            <a:ext cx="8839204" cy="505405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7"/>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Desktop Frontend</a:t>
            </a:r>
            <a:endParaRPr/>
          </a:p>
        </p:txBody>
      </p:sp>
      <p:cxnSp>
        <p:nvCxnSpPr>
          <p:cNvPr id="471" name="Google Shape;471;p57"/>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72" name="Google Shape;472;p5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73" name="Google Shape;473;p57"/>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pic>
        <p:nvPicPr>
          <p:cNvPr id="474" name="Google Shape;474;p57"/>
          <p:cNvPicPr preferRelativeResize="0"/>
          <p:nvPr/>
        </p:nvPicPr>
        <p:blipFill>
          <a:blip r:embed="rId3">
            <a:alphaModFix/>
          </a:blip>
          <a:stretch>
            <a:fillRect/>
          </a:stretch>
        </p:blipFill>
        <p:spPr>
          <a:xfrm>
            <a:off x="152400" y="1114827"/>
            <a:ext cx="8839204" cy="505837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cxnSp>
        <p:nvCxnSpPr>
          <p:cNvPr id="480" name="Google Shape;480;p58"/>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81" name="Google Shape;481;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82" name="Google Shape;482;p58"/>
          <p:cNvSpPr txBox="1"/>
          <p:nvPr/>
        </p:nvSpPr>
        <p:spPr>
          <a:xfrm>
            <a:off x="628650" y="3223757"/>
            <a:ext cx="78867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200">
                <a:solidFill>
                  <a:schemeClr val="dk1"/>
                </a:solidFill>
                <a:latin typeface="Calibri"/>
                <a:ea typeface="Calibri"/>
                <a:cs typeface="Calibri"/>
                <a:sym typeface="Calibri"/>
              </a:rPr>
              <a:t>Tests</a:t>
            </a:r>
            <a:endParaRPr sz="32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9"/>
          <p:cNvSpPr txBox="1"/>
          <p:nvPr>
            <p:ph type="title"/>
          </p:nvPr>
        </p:nvSpPr>
        <p:spPr>
          <a:xfrm>
            <a:off x="628650" y="365127"/>
            <a:ext cx="7886700" cy="5973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Tests Carried out and their Results</a:t>
            </a:r>
            <a:endParaRPr/>
          </a:p>
        </p:txBody>
      </p:sp>
      <p:cxnSp>
        <p:nvCxnSpPr>
          <p:cNvPr id="489" name="Google Shape;489;p59"/>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90" name="Google Shape;490;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491" name="Google Shape;491;p59"/>
          <p:cNvSpPr txBox="1"/>
          <p:nvPr/>
        </p:nvSpPr>
        <p:spPr>
          <a:xfrm>
            <a:off x="628650" y="1211182"/>
            <a:ext cx="7886700" cy="3273300"/>
          </a:xfrm>
          <a:prstGeom prst="rect">
            <a:avLst/>
          </a:prstGeom>
          <a:noFill/>
          <a:ln>
            <a:noFill/>
          </a:ln>
        </p:spPr>
        <p:txBody>
          <a:bodyPr anchorCtr="0" anchor="t" bIns="45700" lIns="91425" spcFirstLastPara="1" rIns="91425" wrap="square" tIns="45700">
            <a:spAutoFit/>
          </a:bodyPr>
          <a:lstStyle/>
          <a:p>
            <a:pPr indent="-355600" lvl="0" marL="457200" marR="0" rtl="0" algn="just">
              <a:spcBef>
                <a:spcPts val="8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Uma vez que a </a:t>
            </a:r>
            <a:r>
              <a:rPr lang="pt-BR" sz="2000">
                <a:solidFill>
                  <a:schemeClr val="dk1"/>
                </a:solidFill>
                <a:latin typeface="Calibri"/>
                <a:ea typeface="Calibri"/>
                <a:cs typeface="Calibri"/>
                <a:sym typeface="Calibri"/>
              </a:rPr>
              <a:t>interface</a:t>
            </a:r>
            <a:r>
              <a:rPr lang="pt-BR" sz="2000">
                <a:solidFill>
                  <a:schemeClr val="dk1"/>
                </a:solidFill>
                <a:latin typeface="Calibri"/>
                <a:ea typeface="Calibri"/>
                <a:cs typeface="Calibri"/>
                <a:sym typeface="Calibri"/>
              </a:rPr>
              <a:t> não foi terminada totalmente, não foram realizados testes além da nossa própria avaliação pessoal ao longo da construção do trabalho.</a:t>
            </a:r>
            <a:endParaRPr sz="2000">
              <a:solidFill>
                <a:schemeClr val="dk1"/>
              </a:solidFill>
              <a:latin typeface="Calibri"/>
              <a:ea typeface="Calibri"/>
              <a:cs typeface="Calibri"/>
              <a:sym typeface="Calibri"/>
            </a:endParaRPr>
          </a:p>
          <a:p>
            <a:pPr indent="0" lvl="0" marL="457200" marR="0" rtl="0" algn="just">
              <a:spcBef>
                <a:spcPts val="800"/>
              </a:spcBef>
              <a:spcAft>
                <a:spcPts val="0"/>
              </a:spcAft>
              <a:buNone/>
            </a:pPr>
            <a:r>
              <a:t/>
            </a:r>
            <a:endParaRPr sz="2000">
              <a:solidFill>
                <a:schemeClr val="dk1"/>
              </a:solidFill>
              <a:latin typeface="Calibri"/>
              <a:ea typeface="Calibri"/>
              <a:cs typeface="Calibri"/>
              <a:sym typeface="Calibri"/>
            </a:endParaRPr>
          </a:p>
          <a:p>
            <a:pPr indent="-355600" lvl="0" marL="457200" marR="0" rtl="0" algn="just">
              <a:spcBef>
                <a:spcPts val="8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Era esperado, aquando do término do trabalho, realizar os mesmos e fazer devidas alterações de forma a otimizar visualmente o trabalho.</a:t>
            </a:r>
            <a:endParaRPr sz="2000">
              <a:solidFill>
                <a:schemeClr val="dk1"/>
              </a:solidFill>
              <a:latin typeface="Calibri"/>
              <a:ea typeface="Calibri"/>
              <a:cs typeface="Calibri"/>
              <a:sym typeface="Calibri"/>
            </a:endParaRPr>
          </a:p>
          <a:p>
            <a:pPr indent="0" lvl="0" marL="457200" marR="0" rtl="0" algn="just">
              <a:spcBef>
                <a:spcPts val="800"/>
              </a:spcBef>
              <a:spcAft>
                <a:spcPts val="0"/>
              </a:spcAft>
              <a:buNone/>
            </a:pPr>
            <a:r>
              <a:t/>
            </a:r>
            <a:endParaRPr sz="2000">
              <a:solidFill>
                <a:schemeClr val="dk1"/>
              </a:solidFill>
              <a:latin typeface="Calibri"/>
              <a:ea typeface="Calibri"/>
              <a:cs typeface="Calibri"/>
              <a:sym typeface="Calibri"/>
            </a:endParaRPr>
          </a:p>
          <a:p>
            <a:pPr indent="-355600" lvl="0" marL="457200" marR="0" rtl="0" algn="just">
              <a:spcBef>
                <a:spcPts val="8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Além disso, também procuramos otimizar o código da melhor forma possível para facilitar essas mudanças.</a:t>
            </a:r>
            <a:endParaRPr sz="2000">
              <a:solidFill>
                <a:schemeClr val="dk1"/>
              </a:solidFill>
              <a:latin typeface="Calibri"/>
              <a:ea typeface="Calibri"/>
              <a:cs typeface="Calibri"/>
              <a:sym typeface="Calibri"/>
            </a:endParaRPr>
          </a:p>
        </p:txBody>
      </p:sp>
      <p:sp>
        <p:nvSpPr>
          <p:cNvPr id="492" name="Google Shape;492;p59"/>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cxnSp>
        <p:nvCxnSpPr>
          <p:cNvPr id="498" name="Google Shape;498;p60"/>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499" name="Google Shape;499;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00" name="Google Shape;500;p60"/>
          <p:cNvSpPr txBox="1"/>
          <p:nvPr/>
        </p:nvSpPr>
        <p:spPr>
          <a:xfrm>
            <a:off x="628650" y="3223757"/>
            <a:ext cx="78867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200">
                <a:solidFill>
                  <a:schemeClr val="dk1"/>
                </a:solidFill>
                <a:latin typeface="Calibri"/>
                <a:ea typeface="Calibri"/>
                <a:cs typeface="Calibri"/>
                <a:sym typeface="Calibri"/>
              </a:rPr>
              <a:t>Artificial Intelligence Usage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1"/>
          <p:cNvSpPr txBox="1"/>
          <p:nvPr>
            <p:ph type="title"/>
          </p:nvPr>
        </p:nvSpPr>
        <p:spPr>
          <a:xfrm>
            <a:off x="628650" y="365127"/>
            <a:ext cx="7886700" cy="5973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Artificial Intelligence Declaration of Use</a:t>
            </a:r>
            <a:endParaRPr/>
          </a:p>
        </p:txBody>
      </p:sp>
      <p:cxnSp>
        <p:nvCxnSpPr>
          <p:cNvPr id="507" name="Google Shape;507;p61"/>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08" name="Google Shape;508;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09" name="Google Shape;509;p61"/>
          <p:cNvSpPr txBox="1"/>
          <p:nvPr/>
        </p:nvSpPr>
        <p:spPr>
          <a:xfrm>
            <a:off x="628650" y="1799157"/>
            <a:ext cx="7886700" cy="2760300"/>
          </a:xfrm>
          <a:prstGeom prst="rect">
            <a:avLst/>
          </a:prstGeom>
          <a:noFill/>
          <a:ln>
            <a:noFill/>
          </a:ln>
        </p:spPr>
        <p:txBody>
          <a:bodyPr anchorCtr="0" anchor="t" bIns="45700" lIns="91425" spcFirstLastPara="1" rIns="91425" wrap="square" tIns="45700">
            <a:spAutoFit/>
          </a:bodyPr>
          <a:lstStyle/>
          <a:p>
            <a:pPr indent="-355600" lvl="0" marL="457200" marR="0" rtl="0" algn="just">
              <a:spcBef>
                <a:spcPts val="8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Pegamos o código base dado pelo </a:t>
            </a:r>
            <a:r>
              <a:rPr lang="pt-BR" sz="2000" u="sng">
                <a:solidFill>
                  <a:schemeClr val="hlink"/>
                </a:solidFill>
                <a:latin typeface="Calibri"/>
                <a:ea typeface="Calibri"/>
                <a:cs typeface="Calibri"/>
                <a:sym typeface="Calibri"/>
                <a:hlinkClick r:id="rId3"/>
              </a:rPr>
              <a:t>build.io</a:t>
            </a:r>
            <a:r>
              <a:rPr lang="pt-BR" sz="2000">
                <a:solidFill>
                  <a:schemeClr val="dk1"/>
                </a:solidFill>
                <a:latin typeface="Calibri"/>
                <a:ea typeface="Calibri"/>
                <a:cs typeface="Calibri"/>
                <a:sym typeface="Calibri"/>
              </a:rPr>
              <a:t> , e praticamente todos as páginas davam algum erro. Então tivemos que corrigir os overflow, reestruturar uma página base e daí replicamos a mesma estrutura para as restantes páginas.</a:t>
            </a:r>
            <a:endParaRPr sz="2000">
              <a:solidFill>
                <a:schemeClr val="dk1"/>
              </a:solidFill>
              <a:latin typeface="Calibri"/>
              <a:ea typeface="Calibri"/>
              <a:cs typeface="Calibri"/>
              <a:sym typeface="Calibri"/>
            </a:endParaRPr>
          </a:p>
          <a:p>
            <a:pPr indent="0" lvl="0" marL="0" marR="0" rtl="0" algn="just">
              <a:spcBef>
                <a:spcPts val="800"/>
              </a:spcBef>
              <a:spcAft>
                <a:spcPts val="0"/>
              </a:spcAft>
              <a:buNone/>
            </a:pPr>
            <a:r>
              <a:t/>
            </a:r>
            <a:endParaRPr sz="2000">
              <a:solidFill>
                <a:schemeClr val="dk1"/>
              </a:solidFill>
              <a:latin typeface="Calibri"/>
              <a:ea typeface="Calibri"/>
              <a:cs typeface="Calibri"/>
              <a:sym typeface="Calibri"/>
            </a:endParaRPr>
          </a:p>
          <a:p>
            <a:pPr indent="-355600" lvl="0" marL="457200" marR="0" rtl="0" algn="just">
              <a:spcBef>
                <a:spcPts val="8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Utilizamos a AI como auxiliar na reestruração da página base(1º página similar ao Figma) e em certos erros que não conseguimos resolver</a:t>
            </a:r>
            <a:endParaRPr sz="2000">
              <a:solidFill>
                <a:schemeClr val="dk1"/>
              </a:solidFill>
              <a:latin typeface="Calibri"/>
              <a:ea typeface="Calibri"/>
              <a:cs typeface="Calibri"/>
              <a:sym typeface="Calibri"/>
            </a:endParaRPr>
          </a:p>
        </p:txBody>
      </p:sp>
      <p:sp>
        <p:nvSpPr>
          <p:cNvPr id="510" name="Google Shape;510;p61"/>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2"/>
          <p:cNvSpPr txBox="1"/>
          <p:nvPr>
            <p:ph type="title"/>
          </p:nvPr>
        </p:nvSpPr>
        <p:spPr>
          <a:xfrm>
            <a:off x="628650" y="365127"/>
            <a:ext cx="7886700" cy="5973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Artificial Intelligence Declaration of Use</a:t>
            </a:r>
            <a:endParaRPr/>
          </a:p>
        </p:txBody>
      </p:sp>
      <p:cxnSp>
        <p:nvCxnSpPr>
          <p:cNvPr id="517" name="Google Shape;517;p62"/>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18" name="Google Shape;518;p6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19" name="Google Shape;519;p62"/>
          <p:cNvSpPr txBox="1"/>
          <p:nvPr/>
        </p:nvSpPr>
        <p:spPr>
          <a:xfrm>
            <a:off x="628650" y="1211182"/>
            <a:ext cx="7886700" cy="4402200"/>
          </a:xfrm>
          <a:prstGeom prst="rect">
            <a:avLst/>
          </a:prstGeom>
          <a:noFill/>
          <a:ln>
            <a:noFill/>
          </a:ln>
        </p:spPr>
        <p:txBody>
          <a:bodyPr anchorCtr="0" anchor="t" bIns="45700" lIns="91425" spcFirstLastPara="1" rIns="91425" wrap="square" tIns="45700">
            <a:spAutoFit/>
          </a:bodyPr>
          <a:lstStyle/>
          <a:p>
            <a:pPr indent="0" lvl="0" marL="0" marR="0" rtl="0" algn="just">
              <a:spcBef>
                <a:spcPts val="800"/>
              </a:spcBef>
              <a:spcAft>
                <a:spcPts val="0"/>
              </a:spcAft>
              <a:buNone/>
            </a:pPr>
            <a:r>
              <a:rPr lang="pt-BR" sz="2000">
                <a:solidFill>
                  <a:schemeClr val="dk1"/>
                </a:solidFill>
                <a:latin typeface="Calibri"/>
                <a:ea typeface="Calibri"/>
                <a:cs typeface="Calibri"/>
                <a:sym typeface="Calibri"/>
              </a:rPr>
              <a:t>A estrutura dos ficheiros foi baseada nas páginas, ou seja, uma página contém uma  pasta  que contém um conjunto de ficheiros relacionados a essa página. Também criamos uma pasta para os ficheiros reutilizáveis.</a:t>
            </a:r>
            <a:endParaRPr sz="2000">
              <a:solidFill>
                <a:schemeClr val="dk1"/>
              </a:solidFill>
              <a:latin typeface="Calibri"/>
              <a:ea typeface="Calibri"/>
              <a:cs typeface="Calibri"/>
              <a:sym typeface="Calibri"/>
            </a:endParaRPr>
          </a:p>
          <a:p>
            <a:pPr indent="0" lvl="0" marL="0" marR="0" rtl="0" algn="just">
              <a:spcBef>
                <a:spcPts val="800"/>
              </a:spcBef>
              <a:spcAft>
                <a:spcPts val="0"/>
              </a:spcAft>
              <a:buNone/>
            </a:pPr>
            <a:r>
              <a:rPr lang="pt-BR" sz="2000">
                <a:solidFill>
                  <a:schemeClr val="dk1"/>
                </a:solidFill>
                <a:latin typeface="Calibri"/>
                <a:ea typeface="Calibri"/>
                <a:cs typeface="Calibri"/>
                <a:sym typeface="Calibri"/>
              </a:rPr>
              <a:t>O conhecimento de Flutter depois deste projeto é razoável, mas ajudaria bastante na criação de um futuro projeto.</a:t>
            </a:r>
            <a:endParaRPr sz="2000">
              <a:solidFill>
                <a:schemeClr val="dk1"/>
              </a:solidFill>
              <a:latin typeface="Calibri"/>
              <a:ea typeface="Calibri"/>
              <a:cs typeface="Calibri"/>
              <a:sym typeface="Calibri"/>
            </a:endParaRPr>
          </a:p>
          <a:p>
            <a:pPr indent="0" lvl="0" marL="0" marR="0" rtl="0" algn="just">
              <a:spcBef>
                <a:spcPts val="800"/>
              </a:spcBef>
              <a:spcAft>
                <a:spcPts val="0"/>
              </a:spcAft>
              <a:buNone/>
            </a:pPr>
            <a:r>
              <a:rPr lang="pt-BR" sz="2000">
                <a:solidFill>
                  <a:schemeClr val="dk1"/>
                </a:solidFill>
                <a:latin typeface="Calibri"/>
                <a:ea typeface="Calibri"/>
                <a:cs typeface="Calibri"/>
                <a:sym typeface="Calibri"/>
              </a:rPr>
              <a:t>Não existiram prompts principais além da conversão para flutter, utilizamos AI para poder fazer debugging do código flutter e corrigir overflows mais facilmente. Também usamos o </a:t>
            </a:r>
            <a:r>
              <a:rPr lang="pt-BR" sz="2000" u="sng">
                <a:solidFill>
                  <a:schemeClr val="hlink"/>
                </a:solidFill>
                <a:latin typeface="Calibri"/>
                <a:ea typeface="Calibri"/>
                <a:cs typeface="Calibri"/>
                <a:sym typeface="Calibri"/>
                <a:hlinkClick r:id="rId3"/>
              </a:rPr>
              <a:t>builder.io</a:t>
            </a:r>
            <a:r>
              <a:rPr lang="pt-BR" sz="2000">
                <a:solidFill>
                  <a:schemeClr val="dk1"/>
                </a:solidFill>
                <a:latin typeface="Calibri"/>
                <a:ea typeface="Calibri"/>
                <a:cs typeface="Calibri"/>
                <a:sym typeface="Calibri"/>
              </a:rPr>
              <a:t> para gerar o nosso código em flutter como o professor sugeriu.</a:t>
            </a:r>
            <a:endParaRPr sz="2000">
              <a:solidFill>
                <a:schemeClr val="dk1"/>
              </a:solidFill>
              <a:latin typeface="Calibri"/>
              <a:ea typeface="Calibri"/>
              <a:cs typeface="Calibri"/>
              <a:sym typeface="Calibri"/>
            </a:endParaRPr>
          </a:p>
          <a:p>
            <a:pPr indent="0" lvl="0" marL="0" marR="0" rtl="0" algn="just">
              <a:spcBef>
                <a:spcPts val="800"/>
              </a:spcBef>
              <a:spcAft>
                <a:spcPts val="0"/>
              </a:spcAft>
              <a:buNone/>
            </a:pPr>
            <a:r>
              <a:rPr lang="pt-BR" sz="2000">
                <a:solidFill>
                  <a:schemeClr val="dk1"/>
                </a:solidFill>
                <a:latin typeface="Calibri"/>
                <a:ea typeface="Calibri"/>
                <a:cs typeface="Calibri"/>
                <a:sym typeface="Calibri"/>
              </a:rPr>
              <a:t>Entendemos um pouco da linguagem flutter conforme fomos fazendo, porém não gostámos do facto de sermos dependentes de AI muitas das vezes principalmente porque tinha erros que eram difíceis de entender, entre outros.</a:t>
            </a:r>
            <a:endParaRPr sz="2000">
              <a:solidFill>
                <a:schemeClr val="dk1"/>
              </a:solidFill>
              <a:latin typeface="Calibri"/>
              <a:ea typeface="Calibri"/>
              <a:cs typeface="Calibri"/>
              <a:sym typeface="Calibri"/>
            </a:endParaRPr>
          </a:p>
        </p:txBody>
      </p:sp>
      <p:sp>
        <p:nvSpPr>
          <p:cNvPr id="520" name="Google Shape;520;p62"/>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cxnSp>
        <p:nvCxnSpPr>
          <p:cNvPr id="526" name="Google Shape;526;p63"/>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27" name="Google Shape;527;p6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28" name="Google Shape;528;p63"/>
          <p:cNvSpPr txBox="1"/>
          <p:nvPr/>
        </p:nvSpPr>
        <p:spPr>
          <a:xfrm>
            <a:off x="628650" y="3223757"/>
            <a:ext cx="78867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200">
                <a:solidFill>
                  <a:schemeClr val="dk1"/>
                </a:solidFill>
                <a:latin typeface="Calibri"/>
                <a:ea typeface="Calibri"/>
                <a:cs typeface="Calibri"/>
                <a:sym typeface="Calibri"/>
              </a:rPr>
              <a:t>Problems, Choices, Conclusions</a:t>
            </a:r>
            <a:endParaRPr sz="32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4"/>
          <p:cNvSpPr txBox="1"/>
          <p:nvPr>
            <p:ph type="title"/>
          </p:nvPr>
        </p:nvSpPr>
        <p:spPr>
          <a:xfrm>
            <a:off x="628650" y="365127"/>
            <a:ext cx="7886700" cy="5973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Considerations, Problems and Choices - Desktop</a:t>
            </a:r>
            <a:endParaRPr/>
          </a:p>
        </p:txBody>
      </p:sp>
      <p:cxnSp>
        <p:nvCxnSpPr>
          <p:cNvPr id="535" name="Google Shape;535;p64"/>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36" name="Google Shape;536;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37" name="Google Shape;537;p64"/>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
        <p:nvSpPr>
          <p:cNvPr id="538" name="Google Shape;538;p64"/>
          <p:cNvSpPr txBox="1"/>
          <p:nvPr/>
        </p:nvSpPr>
        <p:spPr>
          <a:xfrm>
            <a:off x="848550" y="1339625"/>
            <a:ext cx="7666800" cy="44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2000">
                <a:solidFill>
                  <a:schemeClr val="dk1"/>
                </a:solidFill>
                <a:latin typeface="Calibri"/>
                <a:ea typeface="Calibri"/>
                <a:cs typeface="Calibri"/>
                <a:sym typeface="Calibri"/>
              </a:rPr>
              <a:t>Páginas Implementadas:</a:t>
            </a:r>
            <a:br>
              <a:rPr lang="pt-BR" sz="2000">
                <a:solidFill>
                  <a:schemeClr val="dk1"/>
                </a:solidFill>
                <a:latin typeface="Calibri"/>
                <a:ea typeface="Calibri"/>
                <a:cs typeface="Calibri"/>
                <a:sym typeface="Calibri"/>
              </a:rPr>
            </a:b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Login, Sign Up, Alterar/Recuperar  Password,  Consulta Inicial, Consulta Pesquisa, Consulta Compra, Planeamento Inicial, Linhas Favoritas, Aluguer Inicial, Aluguer Compra, Mapa Offline Satélite, </a:t>
            </a:r>
            <a:r>
              <a:rPr lang="pt-BR" sz="2000">
                <a:solidFill>
                  <a:schemeClr val="dk1"/>
                </a:solidFill>
                <a:latin typeface="Calibri"/>
                <a:ea typeface="Calibri"/>
                <a:cs typeface="Calibri"/>
                <a:sym typeface="Calibri"/>
              </a:rPr>
              <a:t>Área</a:t>
            </a:r>
            <a:r>
              <a:rPr lang="pt-BR" sz="2000">
                <a:solidFill>
                  <a:schemeClr val="dk1"/>
                </a:solidFill>
                <a:latin typeface="Calibri"/>
                <a:ea typeface="Calibri"/>
                <a:cs typeface="Calibri"/>
                <a:sym typeface="Calibri"/>
              </a:rPr>
              <a:t> Privada Inicial, </a:t>
            </a:r>
            <a:r>
              <a:rPr lang="pt-BR" sz="2000">
                <a:solidFill>
                  <a:schemeClr val="dk1"/>
                </a:solidFill>
                <a:latin typeface="Calibri"/>
                <a:ea typeface="Calibri"/>
                <a:cs typeface="Calibri"/>
                <a:sym typeface="Calibri"/>
              </a:rPr>
              <a:t>Área</a:t>
            </a:r>
            <a:r>
              <a:rPr lang="pt-BR" sz="2000">
                <a:solidFill>
                  <a:schemeClr val="dk1"/>
                </a:solidFill>
                <a:latin typeface="Calibri"/>
                <a:ea typeface="Calibri"/>
                <a:cs typeface="Calibri"/>
                <a:sym typeface="Calibri"/>
              </a:rPr>
              <a:t> Privada - Passe Digital, </a:t>
            </a:r>
            <a:r>
              <a:rPr lang="pt-BR" sz="2000">
                <a:solidFill>
                  <a:schemeClr val="dk1"/>
                </a:solidFill>
                <a:latin typeface="Calibri"/>
                <a:ea typeface="Calibri"/>
                <a:cs typeface="Calibri"/>
                <a:sym typeface="Calibri"/>
              </a:rPr>
              <a:t> Área Privada - Carregar Passe,  Área Privada - Comprar Passe,  Alertas, Definições, Avaliações,  Saber Mais,  Suporte Operacional, AI Gertrudes, Linhas Todos, Linhas Comboios, Linhas Metros, Linhas Autocarros,</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5"/>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Considerations, Problems and Choices - Desktop</a:t>
            </a:r>
            <a:endParaRPr/>
          </a:p>
        </p:txBody>
      </p:sp>
      <p:cxnSp>
        <p:nvCxnSpPr>
          <p:cNvPr id="545" name="Google Shape;545;p65"/>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46" name="Google Shape;546;p6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47" name="Google Shape;547;p65"/>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
        <p:nvSpPr>
          <p:cNvPr id="548" name="Google Shape;548;p65"/>
          <p:cNvSpPr txBox="1"/>
          <p:nvPr/>
        </p:nvSpPr>
        <p:spPr>
          <a:xfrm>
            <a:off x="848550" y="1339625"/>
            <a:ext cx="7666800" cy="44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2000">
                <a:solidFill>
                  <a:schemeClr val="dk1"/>
                </a:solidFill>
                <a:latin typeface="Calibri"/>
                <a:ea typeface="Calibri"/>
                <a:cs typeface="Calibri"/>
                <a:sym typeface="Calibri"/>
              </a:rPr>
              <a:t>Páginas Não Implementadas:</a:t>
            </a:r>
            <a:br>
              <a:rPr lang="pt-BR"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pt-BR" sz="2000">
                <a:solidFill>
                  <a:schemeClr val="dk1"/>
                </a:solidFill>
                <a:latin typeface="Calibri"/>
                <a:ea typeface="Calibri"/>
                <a:cs typeface="Calibri"/>
                <a:sym typeface="Calibri"/>
              </a:rPr>
              <a:t>Consulta Adicionar Amigo à Viagem, Planeamentos Resultados de Rotas, Planeamentos Salvos, Linhas Paragens (Metros, Autocarros, Comboios), Linhas Próximos Transportes (Metros, Autocarros, Comboios), Linhas Acompanha Viagem (Metros, Autocarros, Comboios), Mapa Offline Camadas, Mapa </a:t>
            </a:r>
            <a:r>
              <a:rPr lang="pt-BR" sz="2000">
                <a:solidFill>
                  <a:schemeClr val="dk1"/>
                </a:solidFill>
                <a:latin typeface="Calibri"/>
                <a:ea typeface="Calibri"/>
                <a:cs typeface="Calibri"/>
                <a:sym typeface="Calibri"/>
              </a:rPr>
              <a:t>Offline</a:t>
            </a:r>
            <a:r>
              <a:rPr lang="pt-BR" sz="2000">
                <a:solidFill>
                  <a:schemeClr val="dk1"/>
                </a:solidFill>
                <a:latin typeface="Calibri"/>
                <a:ea typeface="Calibri"/>
                <a:cs typeface="Calibri"/>
                <a:sym typeface="Calibri"/>
              </a:rPr>
              <a:t> </a:t>
            </a:r>
            <a:r>
              <a:rPr lang="pt-BR" sz="2000">
                <a:solidFill>
                  <a:schemeClr val="dk1"/>
                </a:solidFill>
                <a:latin typeface="Calibri"/>
                <a:ea typeface="Calibri"/>
                <a:cs typeface="Calibri"/>
                <a:sym typeface="Calibri"/>
              </a:rPr>
              <a:t>Trânsito</a:t>
            </a:r>
            <a:r>
              <a:rPr lang="pt-BR" sz="2000">
                <a:solidFill>
                  <a:schemeClr val="dk1"/>
                </a:solidFill>
                <a:latin typeface="Calibri"/>
                <a:ea typeface="Calibri"/>
                <a:cs typeface="Calibri"/>
                <a:sym typeface="Calibri"/>
              </a:rPr>
              <a:t>, Mapa </a:t>
            </a:r>
            <a:r>
              <a:rPr lang="pt-BR" sz="2000">
                <a:solidFill>
                  <a:schemeClr val="dk1"/>
                </a:solidFill>
                <a:latin typeface="Calibri"/>
                <a:ea typeface="Calibri"/>
                <a:cs typeface="Calibri"/>
                <a:sym typeface="Calibri"/>
              </a:rPr>
              <a:t>Offline</a:t>
            </a:r>
            <a:r>
              <a:rPr lang="pt-BR" sz="2000">
                <a:solidFill>
                  <a:schemeClr val="dk1"/>
                </a:solidFill>
                <a:latin typeface="Calibri"/>
                <a:ea typeface="Calibri"/>
                <a:cs typeface="Calibri"/>
                <a:sym typeface="Calibri"/>
              </a:rPr>
              <a:t> Linhas, Área Privada - Descontos, Área Privada - Multas, Área Privada - Viagens </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rtl="0" algn="l">
              <a:spcBef>
                <a:spcPts val="0"/>
              </a:spcBef>
              <a:spcAft>
                <a:spcPts val="0"/>
              </a:spcAft>
              <a:buNone/>
            </a:pPr>
            <a:r>
              <a:rPr b="1" lang="pt-BR" sz="2000">
                <a:solidFill>
                  <a:schemeClr val="dk1"/>
                </a:solidFill>
                <a:latin typeface="Calibri"/>
                <a:ea typeface="Calibri"/>
                <a:cs typeface="Calibri"/>
                <a:sym typeface="Calibri"/>
              </a:rPr>
              <a:t>Escolhas</a:t>
            </a:r>
            <a:endParaRPr b="1" sz="2000">
              <a:solidFill>
                <a:schemeClr val="dk1"/>
              </a:solidFill>
              <a:latin typeface="Calibri"/>
              <a:ea typeface="Calibri"/>
              <a:cs typeface="Calibri"/>
              <a:sym typeface="Calibri"/>
            </a:endParaRPr>
          </a:p>
          <a:p>
            <a:pPr indent="0" lvl="0" marL="0" rtl="0" algn="l">
              <a:spcBef>
                <a:spcPts val="0"/>
              </a:spcBef>
              <a:spcAft>
                <a:spcPts val="0"/>
              </a:spcAft>
              <a:buNone/>
            </a:pP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Por termos muitas páginas feitas no Figma, achamos melhor focar nas páginas principais para conseguirmos implementar código bem feito e com mais atenção ao detalhes</a:t>
            </a:r>
            <a:br>
              <a:rPr lang="pt-BR">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6"/>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Considerations, Problems and Choices - Desktop</a:t>
            </a:r>
            <a:endParaRPr/>
          </a:p>
        </p:txBody>
      </p:sp>
      <p:cxnSp>
        <p:nvCxnSpPr>
          <p:cNvPr id="555" name="Google Shape;555;p66"/>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56" name="Google Shape;556;p6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57" name="Google Shape;557;p66"/>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
        <p:nvSpPr>
          <p:cNvPr id="558" name="Google Shape;558;p66"/>
          <p:cNvSpPr txBox="1"/>
          <p:nvPr/>
        </p:nvSpPr>
        <p:spPr>
          <a:xfrm>
            <a:off x="848550" y="1410175"/>
            <a:ext cx="7666800" cy="4257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pt-BR" sz="2000">
                <a:solidFill>
                  <a:schemeClr val="dk1"/>
                </a:solidFill>
                <a:latin typeface="Calibri"/>
                <a:ea typeface="Calibri"/>
                <a:cs typeface="Calibri"/>
                <a:sym typeface="Calibri"/>
              </a:rPr>
              <a:t>Tasks Implementadas:</a:t>
            </a:r>
            <a:endParaRPr sz="2000">
              <a:solidFill>
                <a:schemeClr val="dk1"/>
              </a:solidFill>
              <a:latin typeface="Calibri"/>
              <a:ea typeface="Calibri"/>
              <a:cs typeface="Calibri"/>
              <a:sym typeface="Calibri"/>
            </a:endParaRPr>
          </a:p>
          <a:p>
            <a:pPr indent="-355600" lvl="0" marL="457200" rtl="0" algn="l">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1</a:t>
            </a:r>
            <a:r>
              <a:rPr lang="pt-BR" sz="2000">
                <a:solidFill>
                  <a:schemeClr val="dk1"/>
                </a:solidFill>
                <a:latin typeface="Calibri"/>
                <a:ea typeface="Calibri"/>
                <a:cs typeface="Calibri"/>
                <a:sym typeface="Calibri"/>
              </a:rPr>
              <a:t>: Registrar e/ou Login (c/ recuperação de pass)</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2:</a:t>
            </a:r>
            <a:r>
              <a:rPr lang="pt-BR" sz="2000">
                <a:solidFill>
                  <a:schemeClr val="dk1"/>
                </a:solidFill>
                <a:latin typeface="Calibri"/>
                <a:ea typeface="Calibri"/>
                <a:cs typeface="Calibri"/>
                <a:sym typeface="Calibri"/>
              </a:rPr>
              <a:t> Consulta e Compra Bilhetes</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3</a:t>
            </a:r>
            <a:r>
              <a:rPr lang="pt-BR" sz="2000">
                <a:solidFill>
                  <a:schemeClr val="dk1"/>
                </a:solidFill>
                <a:latin typeface="Calibri"/>
                <a:ea typeface="Calibri"/>
                <a:cs typeface="Calibri"/>
                <a:sym typeface="Calibri"/>
              </a:rPr>
              <a:t>: Planeamento de viagem </a:t>
            </a:r>
            <a:r>
              <a:rPr lang="pt-BR" sz="2000">
                <a:solidFill>
                  <a:schemeClr val="dk1"/>
                </a:solidFill>
                <a:latin typeface="Calibri"/>
                <a:ea typeface="Calibri"/>
                <a:cs typeface="Calibri"/>
                <a:sym typeface="Calibri"/>
              </a:rPr>
              <a:t> (incompleta)</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4</a:t>
            </a:r>
            <a:r>
              <a:rPr lang="pt-BR" sz="2000">
                <a:solidFill>
                  <a:schemeClr val="dk1"/>
                </a:solidFill>
                <a:latin typeface="Calibri"/>
                <a:ea typeface="Calibri"/>
                <a:cs typeface="Calibri"/>
                <a:sym typeface="Calibri"/>
              </a:rPr>
              <a:t>: Overview de Viagens em Tempo Real</a:t>
            </a:r>
            <a:r>
              <a:rPr lang="pt-BR" sz="2000">
                <a:solidFill>
                  <a:schemeClr val="dk1"/>
                </a:solidFill>
                <a:latin typeface="Calibri"/>
                <a:ea typeface="Calibri"/>
                <a:cs typeface="Calibri"/>
                <a:sym typeface="Calibri"/>
              </a:rPr>
              <a:t> (incompleta)</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5</a:t>
            </a:r>
            <a:r>
              <a:rPr lang="pt-BR" sz="2000">
                <a:solidFill>
                  <a:schemeClr val="dk1"/>
                </a:solidFill>
                <a:latin typeface="Calibri"/>
                <a:ea typeface="Calibri"/>
                <a:cs typeface="Calibri"/>
                <a:sym typeface="Calibri"/>
              </a:rPr>
              <a:t>: Pesquisa, Filtragem e Agendamento de Viagens</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6</a:t>
            </a:r>
            <a:r>
              <a:rPr lang="pt-BR" sz="2000">
                <a:solidFill>
                  <a:schemeClr val="dk1"/>
                </a:solidFill>
                <a:latin typeface="Calibri"/>
                <a:ea typeface="Calibri"/>
                <a:cs typeface="Calibri"/>
                <a:sym typeface="Calibri"/>
              </a:rPr>
              <a:t>: Profile Overview (</a:t>
            </a:r>
            <a:r>
              <a:rPr lang="pt-BR" sz="2000">
                <a:solidFill>
                  <a:schemeClr val="dk1"/>
                </a:solidFill>
                <a:latin typeface="Calibri"/>
                <a:ea typeface="Calibri"/>
                <a:cs typeface="Calibri"/>
                <a:sym typeface="Calibri"/>
              </a:rPr>
              <a:t>incompleta</a:t>
            </a:r>
            <a:r>
              <a:rPr lang="pt-BR"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7</a:t>
            </a:r>
            <a:r>
              <a:rPr lang="pt-BR" sz="2000">
                <a:solidFill>
                  <a:schemeClr val="dk1"/>
                </a:solidFill>
                <a:latin typeface="Calibri"/>
                <a:ea typeface="Calibri"/>
                <a:cs typeface="Calibri"/>
                <a:sym typeface="Calibri"/>
              </a:rPr>
              <a:t>:</a:t>
            </a:r>
            <a:r>
              <a:rPr b="1" lang="pt-BR" sz="2000">
                <a:solidFill>
                  <a:schemeClr val="dk1"/>
                </a:solidFill>
                <a:latin typeface="Calibri"/>
                <a:ea typeface="Calibri"/>
                <a:cs typeface="Calibri"/>
                <a:sym typeface="Calibri"/>
              </a:rPr>
              <a:t> </a:t>
            </a:r>
            <a:r>
              <a:rPr lang="pt-BR" sz="2000">
                <a:solidFill>
                  <a:schemeClr val="dk1"/>
                </a:solidFill>
                <a:latin typeface="Calibri"/>
                <a:ea typeface="Calibri"/>
                <a:cs typeface="Calibri"/>
                <a:sym typeface="Calibri"/>
              </a:rPr>
              <a:t>Avaliação da Viagem e Reporte de Problemas</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8 Pt.1:</a:t>
            </a:r>
            <a:r>
              <a:rPr lang="pt-BR" sz="2000">
                <a:solidFill>
                  <a:schemeClr val="dk1"/>
                </a:solidFill>
                <a:latin typeface="Calibri"/>
                <a:ea typeface="Calibri"/>
                <a:cs typeface="Calibri"/>
                <a:sym typeface="Calibri"/>
              </a:rPr>
              <a:t> IA para Viagens</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7"/>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Considerations, Problems and Choices - Desktop</a:t>
            </a:r>
            <a:endParaRPr/>
          </a:p>
        </p:txBody>
      </p:sp>
      <p:cxnSp>
        <p:nvCxnSpPr>
          <p:cNvPr id="565" name="Google Shape;565;p67"/>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66" name="Google Shape;566;p6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67" name="Google Shape;567;p67"/>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
        <p:nvSpPr>
          <p:cNvPr id="568" name="Google Shape;568;p67"/>
          <p:cNvSpPr txBox="1"/>
          <p:nvPr/>
        </p:nvSpPr>
        <p:spPr>
          <a:xfrm>
            <a:off x="848550" y="1410175"/>
            <a:ext cx="7666800" cy="3674400"/>
          </a:xfrm>
          <a:prstGeom prst="rect">
            <a:avLst/>
          </a:prstGeom>
          <a:noFill/>
          <a:ln>
            <a:noFill/>
          </a:ln>
        </p:spPr>
        <p:txBody>
          <a:bodyPr anchorCtr="0" anchor="t" bIns="91425" lIns="91425" spcFirstLastPara="1" rIns="91425" wrap="square" tIns="91425">
            <a:noAutofit/>
          </a:bodyPr>
          <a:lstStyle/>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9</a:t>
            </a:r>
            <a:r>
              <a:rPr lang="pt-BR" sz="2000">
                <a:solidFill>
                  <a:schemeClr val="dk1"/>
                </a:solidFill>
                <a:latin typeface="Calibri"/>
                <a:ea typeface="Calibri"/>
                <a:cs typeface="Calibri"/>
                <a:sym typeface="Calibri"/>
              </a:rPr>
              <a:t>: Navegação com Mapas Offline (incompleta)</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10</a:t>
            </a:r>
            <a:r>
              <a:rPr lang="pt-BR" sz="2000">
                <a:solidFill>
                  <a:schemeClr val="dk1"/>
                </a:solidFill>
                <a:latin typeface="Calibri"/>
                <a:ea typeface="Calibri"/>
                <a:cs typeface="Calibri"/>
                <a:sym typeface="Calibri"/>
              </a:rPr>
              <a:t>: Solicitação de Apoio ao Cliente por Voz ou Chamada</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11</a:t>
            </a:r>
            <a:r>
              <a:rPr lang="pt-BR" sz="2000">
                <a:solidFill>
                  <a:schemeClr val="dk1"/>
                </a:solidFill>
                <a:latin typeface="Calibri"/>
                <a:ea typeface="Calibri"/>
                <a:cs typeface="Calibri"/>
                <a:sym typeface="Calibri"/>
              </a:rPr>
              <a:t>: Aluguer de Veículos</a:t>
            </a:r>
            <a:endParaRPr sz="20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20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b="1" lang="pt-BR" sz="2000">
                <a:solidFill>
                  <a:schemeClr val="dk1"/>
                </a:solidFill>
                <a:latin typeface="Calibri"/>
                <a:ea typeface="Calibri"/>
                <a:cs typeface="Calibri"/>
                <a:sym typeface="Calibri"/>
              </a:rPr>
              <a:t>Tasks Não Implementadas:</a:t>
            </a:r>
            <a:endParaRPr b="1" sz="20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Task 8 Pt.2: </a:t>
            </a:r>
            <a:r>
              <a:rPr lang="pt-BR" sz="2000">
                <a:solidFill>
                  <a:schemeClr val="dk1"/>
                </a:solidFill>
                <a:latin typeface="Calibri"/>
                <a:ea typeface="Calibri"/>
                <a:cs typeface="Calibri"/>
                <a:sym typeface="Calibri"/>
              </a:rPr>
              <a:t>Ativação de Notificações por SMS (Não foi usada no Figma, mudou-se os planos</a:t>
            </a:r>
            <a:endParaRPr sz="20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8"/>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Considerations, Problems and Choices - Desktop</a:t>
            </a:r>
            <a:endParaRPr/>
          </a:p>
        </p:txBody>
      </p:sp>
      <p:cxnSp>
        <p:nvCxnSpPr>
          <p:cNvPr id="575" name="Google Shape;575;p68"/>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76" name="Google Shape;576;p6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77" name="Google Shape;577;p68"/>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
        <p:nvSpPr>
          <p:cNvPr id="578" name="Google Shape;578;p68"/>
          <p:cNvSpPr txBox="1"/>
          <p:nvPr/>
        </p:nvSpPr>
        <p:spPr>
          <a:xfrm>
            <a:off x="743175" y="1240600"/>
            <a:ext cx="7772100" cy="45708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Usou-se uma base de ficheiros constants, sendo reutilizados em todas páginas</a:t>
            </a:r>
            <a:endParaRPr sz="20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Tivemos problemas durante o projeto de overflow, elementos que estavam sobrepondo outros, scrolls que não desciam completamente</a:t>
            </a:r>
            <a:endParaRPr sz="20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O fato de termos tempo o suficiente para implementar todas as páginas do Figma com a sua devida atenção, foi necessário focarmos em implementar as páginas principais</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Detalhe importante: temos resoluções diferentes de PC, então, algumas páginas aqui no desktop, podem, por sua vez, ficar ligeiramente diferente para o pc de quem executa o código.</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9"/>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Considerations, Problems and Choices - </a:t>
            </a:r>
            <a:r>
              <a:rPr lang="pt-BR" sz="2400"/>
              <a:t>Mobile</a:t>
            </a:r>
            <a:endParaRPr/>
          </a:p>
        </p:txBody>
      </p:sp>
      <p:cxnSp>
        <p:nvCxnSpPr>
          <p:cNvPr id="585" name="Google Shape;585;p69"/>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86" name="Google Shape;586;p6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87" name="Google Shape;587;p69"/>
          <p:cNvSpPr txBox="1"/>
          <p:nvPr/>
        </p:nvSpPr>
        <p:spPr>
          <a:xfrm>
            <a:off x="628650" y="1070257"/>
            <a:ext cx="7886700" cy="62595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Foram implementadas todas as páginas exceto as páginas no menu “</a:t>
            </a:r>
            <a:r>
              <a:rPr lang="pt-BR" sz="2000">
                <a:solidFill>
                  <a:schemeClr val="dk1"/>
                </a:solidFill>
                <a:latin typeface="Calibri"/>
                <a:ea typeface="Calibri"/>
                <a:cs typeface="Calibri"/>
                <a:sym typeface="Calibri"/>
              </a:rPr>
              <a:t>hambúrguer</a:t>
            </a:r>
            <a:r>
              <a:rPr lang="pt-BR" sz="2000">
                <a:solidFill>
                  <a:schemeClr val="dk1"/>
                </a:solidFill>
                <a:latin typeface="Calibri"/>
                <a:ea typeface="Calibri"/>
                <a:cs typeface="Calibri"/>
                <a:sym typeface="Calibri"/>
              </a:rPr>
              <a:t>”. Algumas chegaram a ser feitas como “AI_Gertrudes” e “Aluguer” e o próprio “popup_more” (popup do menu), e estão disponibilizadas no zip porém não têm redirecionamento de páginas. Preferi não colocar já que as restantes do menu não ficaram prontas num produto final. “Comprar passe” também não está implementada, daí um dos erros devido ao “Provider”.</a:t>
            </a:r>
            <a:endParaRPr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Side note: tem um menu </a:t>
            </a:r>
            <a:r>
              <a:rPr lang="pt-BR" sz="2000">
                <a:solidFill>
                  <a:schemeClr val="dk1"/>
                </a:solidFill>
                <a:latin typeface="Calibri"/>
                <a:ea typeface="Calibri"/>
                <a:cs typeface="Calibri"/>
                <a:sym typeface="Calibri"/>
              </a:rPr>
              <a:t>hambúrguer</a:t>
            </a:r>
            <a:r>
              <a:rPr lang="pt-BR" sz="2000">
                <a:solidFill>
                  <a:schemeClr val="dk1"/>
                </a:solidFill>
                <a:latin typeface="Calibri"/>
                <a:ea typeface="Calibri"/>
                <a:cs typeface="Calibri"/>
                <a:sym typeface="Calibri"/>
              </a:rPr>
              <a:t> mas não com as páginas que queria no fim.</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Não implementado: </a:t>
            </a:r>
            <a:r>
              <a:rPr lang="pt-BR" sz="2000">
                <a:solidFill>
                  <a:schemeClr val="dk1"/>
                </a:solidFill>
                <a:latin typeface="Calibri"/>
                <a:ea typeface="Calibri"/>
                <a:cs typeface="Calibri"/>
                <a:sym typeface="Calibri"/>
              </a:rPr>
              <a:t>Task 7 , T</a:t>
            </a:r>
            <a:r>
              <a:rPr lang="pt-BR" sz="2000">
                <a:solidFill>
                  <a:schemeClr val="dk1"/>
                </a:solidFill>
                <a:latin typeface="Calibri"/>
                <a:ea typeface="Calibri"/>
                <a:cs typeface="Calibri"/>
                <a:sym typeface="Calibri"/>
              </a:rPr>
              <a:t>ask 8 </a:t>
            </a:r>
            <a:r>
              <a:rPr lang="pt-BR" sz="2000">
                <a:solidFill>
                  <a:schemeClr val="dk1"/>
                </a:solidFill>
                <a:latin typeface="Calibri"/>
                <a:ea typeface="Calibri"/>
                <a:cs typeface="Calibri"/>
                <a:sym typeface="Calibri"/>
              </a:rPr>
              <a:t>(feita mas não implementada)</a:t>
            </a:r>
            <a:r>
              <a:rPr lang="pt-BR" sz="2000">
                <a:solidFill>
                  <a:schemeClr val="dk1"/>
                </a:solidFill>
                <a:latin typeface="Calibri"/>
                <a:ea typeface="Calibri"/>
                <a:cs typeface="Calibri"/>
                <a:sym typeface="Calibri"/>
              </a:rPr>
              <a:t> Task 9, Task 10, Task 11 (feita mas não implementada)</a:t>
            </a:r>
            <a:br>
              <a:rPr lang="pt-BR"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Só pelo motivo de não ter tido tempo suficiente para fazer perfeitamente e preferir não realizar o menu more por estar incompleto. Foquei muito mais nas principais, que deu neste resultado final.</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a:p>
            <a:pPr indent="0" lvl="0" marL="457200" marR="0" rtl="0" algn="just">
              <a:spcBef>
                <a:spcPts val="800"/>
              </a:spcBef>
              <a:spcAft>
                <a:spcPts val="0"/>
              </a:spcAft>
              <a:buNone/>
            </a:pPr>
            <a:r>
              <a:t/>
            </a:r>
            <a:endParaRPr/>
          </a:p>
        </p:txBody>
      </p:sp>
      <p:sp>
        <p:nvSpPr>
          <p:cNvPr id="588" name="Google Shape;588;p69"/>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70"/>
          <p:cNvSpPr txBox="1"/>
          <p:nvPr>
            <p:ph type="title"/>
          </p:nvPr>
        </p:nvSpPr>
        <p:spPr>
          <a:xfrm>
            <a:off x="628650" y="365127"/>
            <a:ext cx="78867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Considerations, Problems and Choices - Mobile</a:t>
            </a:r>
            <a:endParaRPr/>
          </a:p>
        </p:txBody>
      </p:sp>
      <p:cxnSp>
        <p:nvCxnSpPr>
          <p:cNvPr id="595" name="Google Shape;595;p70"/>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596" name="Google Shape;596;p7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597" name="Google Shape;597;p70"/>
          <p:cNvSpPr txBox="1"/>
          <p:nvPr/>
        </p:nvSpPr>
        <p:spPr>
          <a:xfrm>
            <a:off x="628650" y="1211182"/>
            <a:ext cx="7886700" cy="5633700"/>
          </a:xfrm>
          <a:prstGeom prst="rect">
            <a:avLst/>
          </a:prstGeom>
          <a:noFill/>
          <a:ln>
            <a:noFill/>
          </a:ln>
        </p:spPr>
        <p:txBody>
          <a:bodyPr anchorCtr="0" anchor="t" bIns="45700" lIns="91425" spcFirstLastPara="1" rIns="91425" wrap="square" tIns="45700">
            <a:spAutoFit/>
          </a:bodyPr>
          <a:lstStyle/>
          <a:p>
            <a:pPr indent="-355600" lvl="0" marL="457200" marR="0" rtl="0" algn="just">
              <a:spcBef>
                <a:spcPts val="8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Relevante: na pesquisa nas linhas de comboio, metro, etc. É de facto feita uma “pesquisa”, no caso filtra os nomes ao pesquisar no página.</a:t>
            </a:r>
            <a:endParaRPr sz="2000">
              <a:solidFill>
                <a:schemeClr val="dk1"/>
              </a:solidFill>
              <a:latin typeface="Calibri"/>
              <a:ea typeface="Calibri"/>
              <a:cs typeface="Calibri"/>
              <a:sym typeface="Calibri"/>
            </a:endParaRPr>
          </a:p>
          <a:p>
            <a:pPr indent="0" lvl="0" marL="0" marR="0" rtl="0" algn="just">
              <a:spcBef>
                <a:spcPts val="800"/>
              </a:spcBef>
              <a:spcAft>
                <a:spcPts val="0"/>
              </a:spcAft>
              <a:buNone/>
            </a:pPr>
            <a:r>
              <a:t/>
            </a:r>
            <a:endParaRPr sz="2000">
              <a:solidFill>
                <a:schemeClr val="dk1"/>
              </a:solidFill>
              <a:latin typeface="Calibri"/>
              <a:ea typeface="Calibri"/>
              <a:cs typeface="Calibri"/>
              <a:sym typeface="Calibri"/>
            </a:endParaRPr>
          </a:p>
          <a:p>
            <a:pPr indent="-355600" lvl="0" marL="457200" marR="0" rtl="0" algn="just">
              <a:spcBef>
                <a:spcPts val="8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Problemas: a enormidade (sem querer) do nosso trabalho complicou bastante o projeto em questões de tempo. </a:t>
            </a:r>
            <a:r>
              <a:rPr lang="pt-BR" sz="2000">
                <a:solidFill>
                  <a:schemeClr val="dk1"/>
                </a:solidFill>
                <a:latin typeface="Calibri"/>
                <a:ea typeface="Calibri"/>
                <a:cs typeface="Calibri"/>
                <a:sym typeface="Calibri"/>
              </a:rPr>
              <a:t>Queríamos</a:t>
            </a:r>
            <a:r>
              <a:rPr lang="pt-BR" sz="2000">
                <a:solidFill>
                  <a:schemeClr val="dk1"/>
                </a:solidFill>
                <a:latin typeface="Calibri"/>
                <a:ea typeface="Calibri"/>
                <a:cs typeface="Calibri"/>
                <a:sym typeface="Calibri"/>
              </a:rPr>
              <a:t> deixar sempre tudo perfeito e acabou por não dar para um trabalho completo no fim. Ainda assim, acho que fizemos um excelente trabalho para o objetivo do projeto - uma app/um site relacionado a transportes públicos e etc.</a:t>
            </a:r>
            <a:endParaRPr sz="2000">
              <a:solidFill>
                <a:schemeClr val="dk1"/>
              </a:solidFill>
              <a:latin typeface="Calibri"/>
              <a:ea typeface="Calibri"/>
              <a:cs typeface="Calibri"/>
              <a:sym typeface="Calibri"/>
            </a:endParaRPr>
          </a:p>
          <a:p>
            <a:pPr indent="0" lvl="0" marL="0" marR="0" rtl="0" algn="just">
              <a:spcBef>
                <a:spcPts val="800"/>
              </a:spcBef>
              <a:spcAft>
                <a:spcPts val="0"/>
              </a:spcAft>
              <a:buNone/>
            </a:pPr>
            <a:r>
              <a:t/>
            </a:r>
            <a:endParaRPr sz="2000">
              <a:solidFill>
                <a:schemeClr val="dk1"/>
              </a:solidFill>
              <a:latin typeface="Calibri"/>
              <a:ea typeface="Calibri"/>
              <a:cs typeface="Calibri"/>
              <a:sym typeface="Calibri"/>
            </a:endParaRPr>
          </a:p>
          <a:p>
            <a:pPr indent="-355600" lvl="0" marL="457200" marR="0" rtl="0" algn="just">
              <a:spcBef>
                <a:spcPts val="8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Outro problema: (caso ocorra) em algumas ligações a página parece que é danificada após se clicar num botão, não entendi o porquê, porque a página por si está bem (e noutras ligações também aparece bem).</a:t>
            </a:r>
            <a:endParaRPr sz="2000">
              <a:solidFill>
                <a:schemeClr val="dk1"/>
              </a:solidFill>
              <a:latin typeface="Calibri"/>
              <a:ea typeface="Calibri"/>
              <a:cs typeface="Calibri"/>
              <a:sym typeface="Calibri"/>
            </a:endParaRPr>
          </a:p>
          <a:p>
            <a:pPr indent="0" lvl="0" marL="0" marR="0" rtl="0" algn="just">
              <a:spcBef>
                <a:spcPts val="800"/>
              </a:spcBef>
              <a:spcAft>
                <a:spcPts val="0"/>
              </a:spcAft>
              <a:buNone/>
            </a:pPr>
            <a:r>
              <a:t/>
            </a:r>
            <a:endParaRPr sz="2000">
              <a:solidFill>
                <a:schemeClr val="dk1"/>
              </a:solidFill>
              <a:latin typeface="Calibri"/>
              <a:ea typeface="Calibri"/>
              <a:cs typeface="Calibri"/>
              <a:sym typeface="Calibri"/>
            </a:endParaRPr>
          </a:p>
          <a:p>
            <a:pPr indent="0" lvl="0" marL="0" marR="0" rtl="0" algn="just">
              <a:spcBef>
                <a:spcPts val="800"/>
              </a:spcBef>
              <a:spcAft>
                <a:spcPts val="0"/>
              </a:spcAft>
              <a:buNone/>
            </a:pPr>
            <a:r>
              <a:t/>
            </a:r>
            <a:endParaRPr sz="2000">
              <a:solidFill>
                <a:schemeClr val="dk1"/>
              </a:solidFill>
              <a:latin typeface="Calibri"/>
              <a:ea typeface="Calibri"/>
              <a:cs typeface="Calibri"/>
              <a:sym typeface="Calibri"/>
            </a:endParaRPr>
          </a:p>
        </p:txBody>
      </p:sp>
      <p:sp>
        <p:nvSpPr>
          <p:cNvPr id="598" name="Google Shape;598;p70"/>
          <p:cNvSpPr txBox="1"/>
          <p:nvPr/>
        </p:nvSpPr>
        <p:spPr>
          <a:xfrm>
            <a:off x="628650" y="6385024"/>
            <a:ext cx="778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1"/>
          <p:cNvSpPr txBox="1"/>
          <p:nvPr>
            <p:ph type="title"/>
          </p:nvPr>
        </p:nvSpPr>
        <p:spPr>
          <a:xfrm>
            <a:off x="628650" y="365127"/>
            <a:ext cx="7886700" cy="5973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Conclusions and Global Evaluation</a:t>
            </a:r>
            <a:endParaRPr/>
          </a:p>
        </p:txBody>
      </p:sp>
      <p:cxnSp>
        <p:nvCxnSpPr>
          <p:cNvPr id="605" name="Google Shape;605;p71"/>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606" name="Google Shape;606;p7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607" name="Google Shape;607;p71"/>
          <p:cNvSpPr txBox="1"/>
          <p:nvPr/>
        </p:nvSpPr>
        <p:spPr>
          <a:xfrm>
            <a:off x="628650" y="1211176"/>
            <a:ext cx="7886700" cy="6326100"/>
          </a:xfrm>
          <a:prstGeom prst="rect">
            <a:avLst/>
          </a:prstGeom>
          <a:noFill/>
          <a:ln>
            <a:noFill/>
          </a:ln>
        </p:spPr>
        <p:txBody>
          <a:bodyPr anchorCtr="0" anchor="t" bIns="45700" lIns="91425" spcFirstLastPara="1" rIns="91425" wrap="square" tIns="45700">
            <a:spAutoFit/>
          </a:bodyPr>
          <a:lstStyle/>
          <a:p>
            <a:pPr indent="-355600" lvl="0" marL="457200" rtl="0" algn="l">
              <a:lnSpc>
                <a:spcPct val="115000"/>
              </a:lnSpc>
              <a:spcBef>
                <a:spcPts val="12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Com a realização deste trabalho, aprendemos a construir e desenvolver uma interface visual, bem como a transformá-la em código, aplicando-a a uma situação real. Apesar de considerarmos que a linguagem escolhida não foi a mais adequada devido à sua complexidade (entre outros), o projeto permitiu-nos adquirir conhecimentos relevantes ao longo do processo de desenvolvimento.</a:t>
            </a:r>
            <a:endParaRPr sz="20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Adicionalmente, compreendemos a importância da realização de testes com utilizadores, fundamentais para a identificação de falhas e para o melhoramento contínuo do website. Reconhecemos também a utilidade do recurso a ferramentas de inteligência artificial como apoio ao desenvolvimento e à otimização do código. Por fim, destacamos a importância da reutilização de código e de uma correta estruturação dos ficheiros, aspetos essenciais para a manutenção, escalabilidade e organização do projeto.</a:t>
            </a:r>
            <a:endParaRPr sz="20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t/>
            </a:r>
            <a:endParaRPr sz="2000">
              <a:solidFill>
                <a:schemeClr val="dk1"/>
              </a:solidFill>
              <a:latin typeface="Calibri"/>
              <a:ea typeface="Calibri"/>
              <a:cs typeface="Calibri"/>
              <a:sym typeface="Calibri"/>
            </a:endParaRPr>
          </a:p>
          <a:p>
            <a:pPr indent="0" lvl="0" marL="457200" marR="0" rtl="0" algn="just">
              <a:spcBef>
                <a:spcPts val="1200"/>
              </a:spcBef>
              <a:spcAft>
                <a:spcPts val="0"/>
              </a:spcAft>
              <a:buNone/>
            </a:pPr>
            <a:r>
              <a:t/>
            </a:r>
            <a:endParaRPr sz="2000">
              <a:solidFill>
                <a:schemeClr val="dk1"/>
              </a:solidFill>
              <a:latin typeface="Calibri"/>
              <a:ea typeface="Calibri"/>
              <a:cs typeface="Calibri"/>
              <a:sym typeface="Calibri"/>
            </a:endParaRPr>
          </a:p>
          <a:p>
            <a:pPr indent="0" lvl="0" marL="457200" marR="0" rtl="0" algn="just">
              <a:spcBef>
                <a:spcPts val="0"/>
              </a:spcBef>
              <a:spcAft>
                <a:spcPts val="0"/>
              </a:spcAft>
              <a:buNone/>
            </a:pPr>
            <a:r>
              <a:t/>
            </a:r>
            <a:endParaRPr sz="2000">
              <a:solidFill>
                <a:schemeClr val="dk1"/>
              </a:solidFill>
              <a:latin typeface="Calibri"/>
              <a:ea typeface="Calibri"/>
              <a:cs typeface="Calibri"/>
              <a:sym typeface="Calibri"/>
            </a:endParaRPr>
          </a:p>
        </p:txBody>
      </p:sp>
      <p:sp>
        <p:nvSpPr>
          <p:cNvPr id="608" name="Google Shape;608;p71"/>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cxnSp>
        <p:nvCxnSpPr>
          <p:cNvPr id="614" name="Google Shape;614;p72"/>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615" name="Google Shape;615;p7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616" name="Google Shape;616;p72"/>
          <p:cNvSpPr txBox="1"/>
          <p:nvPr/>
        </p:nvSpPr>
        <p:spPr>
          <a:xfrm>
            <a:off x="628650" y="3223757"/>
            <a:ext cx="78867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200">
                <a:solidFill>
                  <a:schemeClr val="dk1"/>
                </a:solidFill>
                <a:latin typeface="Calibri"/>
                <a:ea typeface="Calibri"/>
                <a:cs typeface="Calibri"/>
                <a:sym typeface="Calibri"/>
              </a:rPr>
              <a:t>Assessment</a:t>
            </a:r>
            <a:endParaRPr sz="32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73"/>
          <p:cNvSpPr txBox="1"/>
          <p:nvPr>
            <p:ph type="title"/>
          </p:nvPr>
        </p:nvSpPr>
        <p:spPr>
          <a:xfrm>
            <a:off x="628650" y="365127"/>
            <a:ext cx="7886700" cy="5893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Individual Assessment</a:t>
            </a:r>
            <a:endParaRPr/>
          </a:p>
        </p:txBody>
      </p:sp>
      <p:cxnSp>
        <p:nvCxnSpPr>
          <p:cNvPr id="623" name="Google Shape;623;p73"/>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624" name="Google Shape;624;p7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625" name="Google Shape;625;p73"/>
          <p:cNvGraphicFramePr/>
          <p:nvPr/>
        </p:nvGraphicFramePr>
        <p:xfrm>
          <a:off x="628649" y="1397000"/>
          <a:ext cx="3000000" cy="3000000"/>
        </p:xfrm>
        <a:graphic>
          <a:graphicData uri="http://schemas.openxmlformats.org/drawingml/2006/table">
            <a:tbl>
              <a:tblPr bandRow="1" firstRow="1">
                <a:noFill/>
                <a:tableStyleId>{32049310-0A7A-4347-A72E-DDCBC201C1A4}</a:tableStyleId>
              </a:tblPr>
              <a:tblGrid>
                <a:gridCol w="1452750"/>
                <a:gridCol w="5053925"/>
                <a:gridCol w="1272875"/>
              </a:tblGrid>
              <a:tr h="370850">
                <a:tc>
                  <a:txBody>
                    <a:bodyPr/>
                    <a:lstStyle/>
                    <a:p>
                      <a:pPr indent="0" lvl="0" marL="0" marR="0" rtl="0" algn="ctr">
                        <a:spcBef>
                          <a:spcPts val="0"/>
                        </a:spcBef>
                        <a:spcAft>
                          <a:spcPts val="0"/>
                        </a:spcAft>
                        <a:buNone/>
                      </a:pPr>
                      <a:r>
                        <a:rPr b="1" lang="pt-BR" sz="1600" u="none" cap="none" strike="noStrike"/>
                        <a:t>Team Member</a:t>
                      </a:r>
                      <a:endParaRPr/>
                    </a:p>
                  </a:txBody>
                  <a:tcPr marT="45725" marB="45725" marR="91450" marL="91450" anchor="ctr"/>
                </a:tc>
                <a:tc>
                  <a:txBody>
                    <a:bodyPr/>
                    <a:lstStyle/>
                    <a:p>
                      <a:pPr indent="0" lvl="0" marL="0" marR="0" rtl="0" algn="ctr">
                        <a:spcBef>
                          <a:spcPts val="0"/>
                        </a:spcBef>
                        <a:spcAft>
                          <a:spcPts val="0"/>
                        </a:spcAft>
                        <a:buNone/>
                      </a:pPr>
                      <a:r>
                        <a:rPr b="1" lang="pt-BR" sz="1600" u="none" cap="none" strike="noStrike"/>
                        <a:t>Activities Carried Out</a:t>
                      </a:r>
                      <a:endParaRPr/>
                    </a:p>
                  </a:txBody>
                  <a:tcPr marT="45725" marB="45725" marR="91450" marL="91450" anchor="ctr"/>
                </a:tc>
                <a:tc>
                  <a:txBody>
                    <a:bodyPr/>
                    <a:lstStyle/>
                    <a:p>
                      <a:pPr indent="0" lvl="0" marL="0" marR="0" rtl="0" algn="ctr">
                        <a:spcBef>
                          <a:spcPts val="0"/>
                        </a:spcBef>
                        <a:spcAft>
                          <a:spcPts val="0"/>
                        </a:spcAft>
                        <a:buNone/>
                      </a:pPr>
                      <a:r>
                        <a:rPr b="1" lang="pt-BR" sz="1600" u="none" cap="none" strike="noStrike"/>
                        <a:t>Total Workload %</a:t>
                      </a:r>
                      <a:endParaRPr/>
                    </a:p>
                  </a:txBody>
                  <a:tcPr marT="45725" marB="45725" marR="91450" marL="91450" anchor="ctr"/>
                </a:tc>
              </a:tr>
              <a:tr h="370850">
                <a:tc>
                  <a:txBody>
                    <a:bodyPr/>
                    <a:lstStyle/>
                    <a:p>
                      <a:pPr indent="0" lvl="0" marL="0" marR="0" rtl="0" algn="l">
                        <a:spcBef>
                          <a:spcPts val="0"/>
                        </a:spcBef>
                        <a:spcAft>
                          <a:spcPts val="0"/>
                        </a:spcAft>
                        <a:buNone/>
                      </a:pPr>
                      <a:r>
                        <a:rPr lang="pt-BR" sz="1600" u="none" cap="none" strike="noStrike"/>
                        <a:t>A0</a:t>
                      </a:r>
                      <a:r>
                        <a:rPr lang="pt-BR" sz="1600"/>
                        <a:t>46756</a:t>
                      </a:r>
                      <a:endParaRPr/>
                    </a:p>
                  </a:txBody>
                  <a:tcPr marT="45725" marB="45725" marR="91450" marL="91450"/>
                </a:tc>
                <a:tc>
                  <a:txBody>
                    <a:bodyPr/>
                    <a:lstStyle/>
                    <a:p>
                      <a:pPr indent="0" lvl="0" marL="0" marR="0" rtl="0" algn="l">
                        <a:spcBef>
                          <a:spcPts val="0"/>
                        </a:spcBef>
                        <a:spcAft>
                          <a:spcPts val="0"/>
                        </a:spcAft>
                        <a:buNone/>
                      </a:pPr>
                      <a:r>
                        <a:rPr lang="pt-BR" sz="1600"/>
                        <a:t>Desktop</a:t>
                      </a:r>
                      <a:endParaRPr sz="1600"/>
                    </a:p>
                  </a:txBody>
                  <a:tcPr marT="45725" marB="45725" marR="91450" marL="91450"/>
                </a:tc>
                <a:tc>
                  <a:txBody>
                    <a:bodyPr/>
                    <a:lstStyle/>
                    <a:p>
                      <a:pPr indent="0" lvl="0" marL="0" marR="0" rtl="0" algn="r">
                        <a:spcBef>
                          <a:spcPts val="0"/>
                        </a:spcBef>
                        <a:spcAft>
                          <a:spcPts val="0"/>
                        </a:spcAft>
                        <a:buNone/>
                      </a:pPr>
                      <a:r>
                        <a:rPr lang="pt-BR" sz="1600"/>
                        <a:t>27</a:t>
                      </a:r>
                      <a:r>
                        <a:rPr lang="pt-BR" sz="1600"/>
                        <a:t>%</a:t>
                      </a:r>
                      <a:endParaRPr/>
                    </a:p>
                  </a:txBody>
                  <a:tcPr marT="45725" marB="45725" marR="91450" marL="91450"/>
                </a:tc>
              </a:tr>
              <a:tr h="370850">
                <a:tc>
                  <a:txBody>
                    <a:bodyPr/>
                    <a:lstStyle/>
                    <a:p>
                      <a:pPr indent="0" lvl="0" marL="0" rtl="0" algn="l">
                        <a:spcBef>
                          <a:spcPts val="0"/>
                        </a:spcBef>
                        <a:spcAft>
                          <a:spcPts val="0"/>
                        </a:spcAft>
                        <a:buClr>
                          <a:schemeClr val="dk1"/>
                        </a:buClr>
                        <a:buSzPts val="1600"/>
                        <a:buFont typeface="Calibri"/>
                        <a:buNone/>
                      </a:pPr>
                      <a:r>
                        <a:rPr lang="pt-BR" sz="1600"/>
                        <a:t>A047188</a:t>
                      </a:r>
                      <a:endParaRPr/>
                    </a:p>
                  </a:txBody>
                  <a:tcPr marT="45725" marB="45725" marR="91450" marL="91450"/>
                </a:tc>
                <a:tc>
                  <a:txBody>
                    <a:bodyPr/>
                    <a:lstStyle/>
                    <a:p>
                      <a:pPr indent="0" lvl="0" marL="0" rtl="0" algn="l">
                        <a:spcBef>
                          <a:spcPts val="0"/>
                        </a:spcBef>
                        <a:spcAft>
                          <a:spcPts val="0"/>
                        </a:spcAft>
                        <a:buClr>
                          <a:schemeClr val="dk1"/>
                        </a:buClr>
                        <a:buFont typeface="Arial"/>
                        <a:buNone/>
                      </a:pPr>
                      <a:r>
                        <a:rPr lang="pt-BR" sz="1600"/>
                        <a:t>Mobile</a:t>
                      </a:r>
                      <a:endParaRPr sz="1600"/>
                    </a:p>
                  </a:txBody>
                  <a:tcPr marT="45725" marB="45725" marR="91450" marL="91450"/>
                </a:tc>
                <a:tc>
                  <a:txBody>
                    <a:bodyPr/>
                    <a:lstStyle/>
                    <a:p>
                      <a:pPr indent="0" lvl="0" marL="0" marR="0" rtl="0" algn="r">
                        <a:spcBef>
                          <a:spcPts val="0"/>
                        </a:spcBef>
                        <a:spcAft>
                          <a:spcPts val="0"/>
                        </a:spcAft>
                        <a:buNone/>
                      </a:pPr>
                      <a:r>
                        <a:rPr lang="pt-BR" sz="1600"/>
                        <a:t>33</a:t>
                      </a:r>
                      <a:r>
                        <a:rPr lang="pt-BR" sz="1600"/>
                        <a:t>%</a:t>
                      </a:r>
                      <a:endParaRPr/>
                    </a:p>
                  </a:txBody>
                  <a:tcPr marT="45725" marB="45725" marR="91450" marL="91450"/>
                </a:tc>
              </a:tr>
              <a:tr h="370850">
                <a:tc>
                  <a:txBody>
                    <a:bodyPr/>
                    <a:lstStyle/>
                    <a:p>
                      <a:pPr indent="0" lvl="0" marL="0" rtl="0" algn="l">
                        <a:spcBef>
                          <a:spcPts val="0"/>
                        </a:spcBef>
                        <a:spcAft>
                          <a:spcPts val="0"/>
                        </a:spcAft>
                        <a:buClr>
                          <a:schemeClr val="dk1"/>
                        </a:buClr>
                        <a:buFont typeface="Arial"/>
                        <a:buNone/>
                      </a:pPr>
                      <a:r>
                        <a:rPr lang="pt-BR" sz="1600"/>
                        <a:t>A047152</a:t>
                      </a:r>
                      <a:endParaRPr/>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pt-BR" sz="1600"/>
                        <a:t>Desktop</a:t>
                      </a:r>
                      <a:endParaRPr sz="1600"/>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lang="pt-BR" sz="1600"/>
                        <a:t>40</a:t>
                      </a:r>
                      <a:r>
                        <a:rPr lang="pt-BR" sz="1600"/>
                        <a:t>%</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600"/>
                        <a:buFont typeface="Calibri"/>
                        <a:buNone/>
                      </a:pPr>
                      <a:r>
                        <a:t/>
                      </a:r>
                      <a:endParaRPr sz="16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pt-BR" sz="1600"/>
                        <a:t>100%</a:t>
                      </a:r>
                      <a:endParaRPr/>
                    </a:p>
                  </a:txBody>
                  <a:tcPr marT="45725" marB="45725" marR="91450" marL="91450">
                    <a:lnL cap="flat" cmpd="sng" w="12700">
                      <a:solidFill>
                        <a:schemeClr val="dk1"/>
                      </a:solidFill>
                      <a:prstDash val="solid"/>
                      <a:round/>
                      <a:headEnd len="sm" w="sm" type="none"/>
                      <a:tailEnd len="sm" w="sm" type="none"/>
                    </a:lnL>
                    <a:solidFill>
                      <a:srgbClr val="E1EFD8"/>
                    </a:solidFill>
                  </a:tcPr>
                </a:tc>
              </a:tr>
            </a:tbl>
          </a:graphicData>
        </a:graphic>
      </p:graphicFrame>
      <p:sp>
        <p:nvSpPr>
          <p:cNvPr id="626" name="Google Shape;626;p73"/>
          <p:cNvSpPr txBox="1"/>
          <p:nvPr/>
        </p:nvSpPr>
        <p:spPr>
          <a:xfrm>
            <a:off x="575068" y="3728105"/>
            <a:ext cx="7886700" cy="3078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a:p>
        </p:txBody>
      </p:sp>
      <p:sp>
        <p:nvSpPr>
          <p:cNvPr id="627" name="Google Shape;627;p73"/>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4"/>
          <p:cNvSpPr txBox="1"/>
          <p:nvPr>
            <p:ph type="title"/>
          </p:nvPr>
        </p:nvSpPr>
        <p:spPr>
          <a:xfrm>
            <a:off x="628650" y="365127"/>
            <a:ext cx="7886700" cy="5893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Individual Final Assessment (Self-Evaluation)</a:t>
            </a:r>
            <a:endParaRPr/>
          </a:p>
        </p:txBody>
      </p:sp>
      <p:cxnSp>
        <p:nvCxnSpPr>
          <p:cNvPr id="634" name="Google Shape;634;p74"/>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635" name="Google Shape;635;p7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636" name="Google Shape;636;p74"/>
          <p:cNvGraphicFramePr/>
          <p:nvPr/>
        </p:nvGraphicFramePr>
        <p:xfrm>
          <a:off x="2771903" y="1297728"/>
          <a:ext cx="3000000" cy="3000000"/>
        </p:xfrm>
        <a:graphic>
          <a:graphicData uri="http://schemas.openxmlformats.org/drawingml/2006/table">
            <a:tbl>
              <a:tblPr bandRow="1" firstRow="1">
                <a:noFill/>
                <a:tableStyleId>{32049310-0A7A-4347-A72E-DDCBC201C1A4}</a:tableStyleId>
              </a:tblPr>
              <a:tblGrid>
                <a:gridCol w="1869175"/>
                <a:gridCol w="1731000"/>
              </a:tblGrid>
              <a:tr h="370850">
                <a:tc>
                  <a:txBody>
                    <a:bodyPr/>
                    <a:lstStyle/>
                    <a:p>
                      <a:pPr indent="0" lvl="0" marL="0" marR="0" rtl="0" algn="ctr">
                        <a:spcBef>
                          <a:spcPts val="0"/>
                        </a:spcBef>
                        <a:spcAft>
                          <a:spcPts val="0"/>
                        </a:spcAft>
                        <a:buNone/>
                      </a:pPr>
                      <a:r>
                        <a:rPr b="1" lang="pt-BR" sz="1600"/>
                        <a:t>Team Member</a:t>
                      </a:r>
                      <a:endParaRPr/>
                    </a:p>
                  </a:txBody>
                  <a:tcPr marT="45725" marB="45725" marR="91450" marL="91450" anchor="ctr"/>
                </a:tc>
                <a:tc>
                  <a:txBody>
                    <a:bodyPr/>
                    <a:lstStyle/>
                    <a:p>
                      <a:pPr indent="0" lvl="0" marL="0" marR="0" rtl="0" algn="ctr">
                        <a:spcBef>
                          <a:spcPts val="0"/>
                        </a:spcBef>
                        <a:spcAft>
                          <a:spcPts val="0"/>
                        </a:spcAft>
                        <a:buNone/>
                      </a:pPr>
                      <a:r>
                        <a:rPr b="1" lang="pt-BR" sz="1600"/>
                        <a:t>Final Grade (0-20)</a:t>
                      </a:r>
                      <a:endParaRPr/>
                    </a:p>
                  </a:txBody>
                  <a:tcPr marT="45725" marB="45725" marR="91450" marL="91450" anchor="ctr"/>
                </a:tc>
              </a:tr>
              <a:tr h="370850">
                <a:tc>
                  <a:txBody>
                    <a:bodyPr/>
                    <a:lstStyle/>
                    <a:p>
                      <a:pPr indent="0" lvl="0" marL="0" marR="0" rtl="0" algn="l">
                        <a:spcBef>
                          <a:spcPts val="0"/>
                        </a:spcBef>
                        <a:spcAft>
                          <a:spcPts val="0"/>
                        </a:spcAft>
                        <a:buNone/>
                      </a:pPr>
                      <a:r>
                        <a:rPr lang="pt-BR" sz="1600"/>
                        <a:t>A046756</a:t>
                      </a:r>
                      <a:endParaRPr/>
                    </a:p>
                  </a:txBody>
                  <a:tcPr marT="45725" marB="45725" marR="91450" marL="91450"/>
                </a:tc>
                <a:tc>
                  <a:txBody>
                    <a:bodyPr/>
                    <a:lstStyle/>
                    <a:p>
                      <a:pPr indent="0" lvl="0" marL="0" marR="0" rtl="0" algn="r">
                        <a:spcBef>
                          <a:spcPts val="0"/>
                        </a:spcBef>
                        <a:spcAft>
                          <a:spcPts val="0"/>
                        </a:spcAft>
                        <a:buNone/>
                      </a:pPr>
                      <a:r>
                        <a:rPr lang="pt-BR" sz="1600"/>
                        <a:t>18</a:t>
                      </a:r>
                      <a:endParaRPr sz="1600"/>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600"/>
                        <a:buFont typeface="Calibri"/>
                        <a:buNone/>
                      </a:pPr>
                      <a:r>
                        <a:rPr lang="pt-BR" sz="1600"/>
                        <a:t>A047188</a:t>
                      </a:r>
                      <a:endParaRPr/>
                    </a:p>
                  </a:txBody>
                  <a:tcPr marT="45725" marB="45725" marR="91450" marL="91450"/>
                </a:tc>
                <a:tc>
                  <a:txBody>
                    <a:bodyPr/>
                    <a:lstStyle/>
                    <a:p>
                      <a:pPr indent="0" lvl="0" marL="0" marR="0" rtl="0" algn="r">
                        <a:spcBef>
                          <a:spcPts val="0"/>
                        </a:spcBef>
                        <a:spcAft>
                          <a:spcPts val="0"/>
                        </a:spcAft>
                        <a:buNone/>
                      </a:pPr>
                      <a:r>
                        <a:rPr lang="pt-BR" sz="1600"/>
                        <a:t>18</a:t>
                      </a:r>
                      <a:endParaRPr sz="1600"/>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600"/>
                        <a:buFont typeface="Calibri"/>
                        <a:buNone/>
                      </a:pPr>
                      <a:r>
                        <a:rPr lang="pt-BR" sz="1600"/>
                        <a:t>A047152</a:t>
                      </a:r>
                      <a:endParaRPr/>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lang="pt-BR" sz="1600"/>
                        <a:t>18</a:t>
                      </a:r>
                      <a:endParaRPr sz="1600"/>
                    </a:p>
                  </a:txBody>
                  <a:tcPr marT="45725" marB="45725" marR="91450" marL="91450"/>
                </a:tc>
              </a:tr>
            </a:tbl>
          </a:graphicData>
        </a:graphic>
      </p:graphicFrame>
      <p:sp>
        <p:nvSpPr>
          <p:cNvPr id="637" name="Google Shape;637;p74"/>
          <p:cNvSpPr txBox="1"/>
          <p:nvPr/>
        </p:nvSpPr>
        <p:spPr>
          <a:xfrm>
            <a:off x="628650" y="3190053"/>
            <a:ext cx="7886700" cy="307800"/>
          </a:xfrm>
          <a:prstGeom prst="rect">
            <a:avLst/>
          </a:prstGeom>
          <a:noFill/>
          <a:ln>
            <a:noFill/>
          </a:ln>
        </p:spPr>
        <p:txBody>
          <a:bodyPr anchorCtr="0" anchor="t" bIns="45700" lIns="91425" spcFirstLastPara="1" rIns="91425" wrap="square" tIns="45700">
            <a:spAutoFit/>
          </a:bodyPr>
          <a:lstStyle/>
          <a:p>
            <a:pPr indent="0" lvl="0" marL="457200" marR="0" rtl="0" algn="just">
              <a:spcBef>
                <a:spcPts val="800"/>
              </a:spcBef>
              <a:spcAft>
                <a:spcPts val="0"/>
              </a:spcAft>
              <a:buNone/>
            </a:pPr>
            <a:r>
              <a:t/>
            </a:r>
            <a:endParaRPr/>
          </a:p>
        </p:txBody>
      </p:sp>
      <p:sp>
        <p:nvSpPr>
          <p:cNvPr id="638" name="Google Shape;638;p74"/>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75"/>
          <p:cNvSpPr txBox="1"/>
          <p:nvPr>
            <p:ph type="title"/>
          </p:nvPr>
        </p:nvSpPr>
        <p:spPr>
          <a:xfrm>
            <a:off x="628650" y="365127"/>
            <a:ext cx="7886700" cy="5893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pt-BR" sz="2400">
                <a:latin typeface="Calibri"/>
                <a:ea typeface="Calibri"/>
                <a:cs typeface="Calibri"/>
                <a:sym typeface="Calibri"/>
              </a:rPr>
              <a:t>Bibliography, Resources and Credits</a:t>
            </a:r>
            <a:endParaRPr/>
          </a:p>
        </p:txBody>
      </p:sp>
      <p:cxnSp>
        <p:nvCxnSpPr>
          <p:cNvPr id="645" name="Google Shape;645;p75"/>
          <p:cNvCxnSpPr/>
          <p:nvPr/>
        </p:nvCxnSpPr>
        <p:spPr>
          <a:xfrm>
            <a:off x="628650" y="954508"/>
            <a:ext cx="7886700" cy="0"/>
          </a:xfrm>
          <a:prstGeom prst="straightConnector1">
            <a:avLst/>
          </a:prstGeom>
          <a:noFill/>
          <a:ln cap="flat" cmpd="sng" w="9525">
            <a:solidFill>
              <a:srgbClr val="1F3864"/>
            </a:solidFill>
            <a:prstDash val="solid"/>
            <a:miter lim="800000"/>
            <a:headEnd len="sm" w="sm" type="none"/>
            <a:tailEnd len="sm" w="sm" type="none"/>
          </a:ln>
        </p:spPr>
      </p:cxnSp>
      <p:sp>
        <p:nvSpPr>
          <p:cNvPr id="646" name="Google Shape;646;p75"/>
          <p:cNvSpPr txBox="1"/>
          <p:nvPr/>
        </p:nvSpPr>
        <p:spPr>
          <a:xfrm>
            <a:off x="628650" y="1211182"/>
            <a:ext cx="7886700" cy="1169700"/>
          </a:xfrm>
          <a:prstGeom prst="rect">
            <a:avLst/>
          </a:prstGeom>
          <a:noFill/>
          <a:ln>
            <a:noFill/>
          </a:ln>
        </p:spPr>
        <p:txBody>
          <a:bodyPr anchorCtr="0" anchor="t" bIns="45700" lIns="91425" spcFirstLastPara="1" rIns="91425" wrap="square" tIns="45700">
            <a:spAutoFit/>
          </a:bodyPr>
          <a:lstStyle/>
          <a:p>
            <a:pPr indent="-355600" lvl="0" marL="457200" marR="0" rtl="0" algn="just">
              <a:lnSpc>
                <a:spcPct val="150000"/>
              </a:lnSpc>
              <a:spcBef>
                <a:spcPts val="0"/>
              </a:spcBef>
              <a:spcAft>
                <a:spcPts val="0"/>
              </a:spcAft>
              <a:buSzPts val="2000"/>
              <a:buFont typeface="Calibri"/>
              <a:buChar char="●"/>
            </a:pPr>
            <a:r>
              <a:rPr lang="pt-BR" sz="2000">
                <a:solidFill>
                  <a:schemeClr val="dk1"/>
                </a:solidFill>
                <a:latin typeface="Calibri"/>
                <a:ea typeface="Calibri"/>
                <a:cs typeface="Calibri"/>
                <a:sym typeface="Calibri"/>
              </a:rPr>
              <a:t>Ferramentas AI, como o Claude, Cursor, </a:t>
            </a:r>
            <a:r>
              <a:rPr lang="pt-BR" sz="2000" u="sng">
                <a:solidFill>
                  <a:schemeClr val="hlink"/>
                </a:solidFill>
                <a:latin typeface="Calibri"/>
                <a:ea typeface="Calibri"/>
                <a:cs typeface="Calibri"/>
                <a:sym typeface="Calibri"/>
                <a:hlinkClick r:id="rId3"/>
              </a:rPr>
              <a:t>Builder.io</a:t>
            </a:r>
            <a:r>
              <a:rPr lang="pt-BR" sz="2000">
                <a:solidFill>
                  <a:schemeClr val="dk1"/>
                </a:solidFill>
                <a:latin typeface="Calibri"/>
                <a:ea typeface="Calibri"/>
                <a:cs typeface="Calibri"/>
                <a:sym typeface="Calibri"/>
              </a:rPr>
              <a:t>, GPT</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p:txBody>
      </p:sp>
      <p:sp>
        <p:nvSpPr>
          <p:cNvPr id="647" name="Google Shape;647;p7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
        <p:nvSpPr>
          <p:cNvPr id="648" name="Google Shape;648;p75"/>
          <p:cNvSpPr txBox="1"/>
          <p:nvPr/>
        </p:nvSpPr>
        <p:spPr>
          <a:xfrm>
            <a:off x="628650" y="6385024"/>
            <a:ext cx="7785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400">
                <a:solidFill>
                  <a:schemeClr val="dk1"/>
                </a:solidFill>
                <a:latin typeface="Calibri"/>
                <a:ea typeface="Calibri"/>
                <a:cs typeface="Calibri"/>
                <a:sym typeface="Calibri"/>
              </a:rPr>
              <a:t>DCCTI</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